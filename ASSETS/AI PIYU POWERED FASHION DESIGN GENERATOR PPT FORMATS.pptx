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Libre Franklin"/>
      <p:regular r:id="rId25"/>
      <p:bold r:id="rId26"/>
      <p:italic r:id="rId27"/>
      <p:boldItalic r:id="rId28"/>
    </p:embeddedFont>
    <p:embeddedFont>
      <p:font typeface="Inter SemiBold"/>
      <p:regular r:id="rId29"/>
      <p:bold r:id="rId30"/>
      <p:italic r:id="rId31"/>
      <p:boldItalic r:id="rId32"/>
    </p:embeddedFont>
    <p:embeddedFont>
      <p:font typeface="Franklin Gothic"/>
      <p:bold r:id="rId33"/>
    </p:embeddedFont>
    <p:embeddedFont>
      <p:font typeface="Montserrat"/>
      <p:bold r:id="rId34"/>
      <p:boldItalic r:id="rId35"/>
    </p:embeddedFont>
    <p:embeddedFont>
      <p:font typeface="Inter"/>
      <p:bold r:id="rId36"/>
      <p:boldItalic r:id="rId37"/>
    </p:embeddedFont>
    <p:embeddedFont>
      <p:font typeface="Montserrat ExtraBold"/>
      <p:bold r:id="rId38"/>
      <p:boldItalic r:id="rId39"/>
    </p:embeddedFont>
    <p:embeddedFont>
      <p:font typeface="Roboto Mono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regular.fntdata"/><Relationship Id="rId20" Type="http://schemas.openxmlformats.org/officeDocument/2006/relationships/slide" Target="slides/slide15.xml"/><Relationship Id="rId42" Type="http://schemas.openxmlformats.org/officeDocument/2006/relationships/font" Target="fonts/RobotoMono-italic.fntdata"/><Relationship Id="rId41" Type="http://schemas.openxmlformats.org/officeDocument/2006/relationships/font" Target="fonts/RobotoMono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schemas.openxmlformats.org/officeDocument/2006/relationships/font" Target="fonts/RobotoMono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ibreFranklin-bold.fntdata"/><Relationship Id="rId25" Type="http://schemas.openxmlformats.org/officeDocument/2006/relationships/font" Target="fonts/LibreFranklin-regular.fntdata"/><Relationship Id="rId28" Type="http://schemas.openxmlformats.org/officeDocument/2006/relationships/font" Target="fonts/LibreFranklin-boldItalic.fntdata"/><Relationship Id="rId27" Type="http://schemas.openxmlformats.org/officeDocument/2006/relationships/font" Target="fonts/LibreFranklin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SemiBo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SemiBold-italic.fntdata"/><Relationship Id="rId30" Type="http://schemas.openxmlformats.org/officeDocument/2006/relationships/font" Target="fonts/InterSemiBold-bold.fntdata"/><Relationship Id="rId11" Type="http://schemas.openxmlformats.org/officeDocument/2006/relationships/slide" Target="slides/slide6.xml"/><Relationship Id="rId33" Type="http://schemas.openxmlformats.org/officeDocument/2006/relationships/font" Target="fonts/FranklinGothic-bold.fntdata"/><Relationship Id="rId10" Type="http://schemas.openxmlformats.org/officeDocument/2006/relationships/slide" Target="slides/slide5.xml"/><Relationship Id="rId32" Type="http://schemas.openxmlformats.org/officeDocument/2006/relationships/font" Target="fonts/InterSemiBold-boldItalic.fntdata"/><Relationship Id="rId13" Type="http://schemas.openxmlformats.org/officeDocument/2006/relationships/slide" Target="slides/slide8.xml"/><Relationship Id="rId35" Type="http://schemas.openxmlformats.org/officeDocument/2006/relationships/font" Target="fonts/Montserrat-boldItalic.fntdata"/><Relationship Id="rId12" Type="http://schemas.openxmlformats.org/officeDocument/2006/relationships/slide" Target="slides/slide7.xml"/><Relationship Id="rId34" Type="http://schemas.openxmlformats.org/officeDocument/2006/relationships/font" Target="fonts/Montserrat-bold.fntdata"/><Relationship Id="rId15" Type="http://schemas.openxmlformats.org/officeDocument/2006/relationships/slide" Target="slides/slide10.xml"/><Relationship Id="rId37" Type="http://schemas.openxmlformats.org/officeDocument/2006/relationships/font" Target="fonts/Inter-boldItalic.fntdata"/><Relationship Id="rId14" Type="http://schemas.openxmlformats.org/officeDocument/2006/relationships/slide" Target="slides/slide9.xml"/><Relationship Id="rId36" Type="http://schemas.openxmlformats.org/officeDocument/2006/relationships/font" Target="fonts/Inter-bold.fntdata"/><Relationship Id="rId17" Type="http://schemas.openxmlformats.org/officeDocument/2006/relationships/slide" Target="slides/slide12.xml"/><Relationship Id="rId39" Type="http://schemas.openxmlformats.org/officeDocument/2006/relationships/font" Target="fonts/MontserratExtraBold-boldItalic.fntdata"/><Relationship Id="rId16" Type="http://schemas.openxmlformats.org/officeDocument/2006/relationships/slide" Target="slides/slide11.xml"/><Relationship Id="rId38" Type="http://schemas.openxmlformats.org/officeDocument/2006/relationships/font" Target="fonts/MontserratExtraBold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713ac46ad_2_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f713ac46ad_2_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713ac46ad_2_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f713ac46ad_2_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71488cc9d_0_9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71488cc9d_0_9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713ac46ad_2_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f713ac46ad_2_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f713ac46ad_2_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71488cc9d_0_18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71488cc9d_0_18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71488cc9d_0_2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f71488cc9d_0_2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713ac46ad_2_1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f713ac46ad_2_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713ac46ad_2_1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f713ac46ad_2_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f713ac46ad_2_1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f713ac46ad_2_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f713ac46ad_2_1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f713ac46ad_2_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f713ac46ad_2_1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f713ac46ad_2_1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f713ac46ad_2_1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3f713ac46ad_2_1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f71488cc9d_0_5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f71488cc9d_0_5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f71488cc9d_0_5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f71488cc9d_0_5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fabb1b9684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fabb1b9684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fabb1b9684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fabb1b9684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f713ac46ad_2_1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3f713ac46ad_2_1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f713ac46ad_2_1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3f713ac46ad_2_1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f713ac46ad_2_1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g3f713ac46ad_2_1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334900" y="2314323"/>
            <a:ext cx="8474100" cy="2503500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 txBox="1"/>
          <p:nvPr>
            <p:ph type="ctrTitle"/>
          </p:nvPr>
        </p:nvSpPr>
        <p:spPr>
          <a:xfrm>
            <a:off x="435893" y="765323"/>
            <a:ext cx="8245200" cy="11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700"/>
              <a:buFont typeface="Franklin Gothic"/>
              <a:buNone/>
              <a:defRPr sz="2700"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435896" y="1871584"/>
            <a:ext cx="8245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 sz="1200" cap="none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SzPts val="8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5704463" y="481793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35894" y="4817936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7918725" y="4817936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35894" y="526617"/>
            <a:ext cx="82722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435894" y="976520"/>
            <a:ext cx="8272200" cy="3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04800" lvl="0" marL="4572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200"/>
              <a:buChar char="◼"/>
              <a:defRPr/>
            </a:lvl1pPr>
            <a:lvl2pPr indent="-304800" lvl="1" marL="9144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2pPr>
            <a:lvl3pPr indent="-304800" lvl="2" marL="13716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3pPr>
            <a:lvl4pPr indent="-304800" lvl="3" marL="1828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4pPr>
            <a:lvl5pPr indent="-304800" lvl="4" marL="22860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5pPr>
            <a:lvl6pPr indent="-304800" lvl="5" marL="27432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6pPr>
            <a:lvl7pPr indent="-304800" lvl="6" marL="32004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7pPr>
            <a:lvl8pPr indent="-304800" lvl="7" marL="36576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8pPr>
            <a:lvl9pPr indent="-304800" lvl="8" marL="4114800" algn="l">
              <a:spcBef>
                <a:spcPts val="500"/>
              </a:spcBef>
              <a:spcAft>
                <a:spcPts val="500"/>
              </a:spcAft>
              <a:buSzPts val="1200"/>
              <a:buChar char="◼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5704463" y="481793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431921" y="547244"/>
            <a:ext cx="8272200" cy="444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5704463" y="481793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435894" y="4817936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7918725" y="4817936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335863" y="3856481"/>
            <a:ext cx="8468100" cy="944100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435895" y="1795463"/>
            <a:ext cx="8272200" cy="161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700"/>
              <a:buFont typeface="Franklin Gothic"/>
              <a:buNone/>
              <a:defRPr b="0" sz="2700" cap="none"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435894" y="3406063"/>
            <a:ext cx="82722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400" cap="none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2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10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10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10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10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10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500"/>
              </a:spcBef>
              <a:spcAft>
                <a:spcPts val="500"/>
              </a:spcAft>
              <a:buSzPts val="10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5704463" y="481793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435894" y="4817936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7918725" y="4817936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35895" y="547244"/>
            <a:ext cx="82722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35895" y="1043609"/>
            <a:ext cx="3896100" cy="33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04800" lvl="0" marL="4572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200"/>
              <a:buChar char="◼"/>
              <a:defRPr/>
            </a:lvl1pPr>
            <a:lvl2pPr indent="-304800" lvl="1" marL="9144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2pPr>
            <a:lvl3pPr indent="-304800" lvl="2" marL="13716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3pPr>
            <a:lvl4pPr indent="-304800" lvl="3" marL="1828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4pPr>
            <a:lvl5pPr indent="-304800" lvl="4" marL="22860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5pPr>
            <a:lvl6pPr indent="-304800" lvl="5" marL="27432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6pPr>
            <a:lvl7pPr indent="-304800" lvl="6" marL="32004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7pPr>
            <a:lvl8pPr indent="-304800" lvl="7" marL="36576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8pPr>
            <a:lvl9pPr indent="-304800" lvl="8" marL="4114800" algn="l">
              <a:spcBef>
                <a:spcPts val="500"/>
              </a:spcBef>
              <a:spcAft>
                <a:spcPts val="500"/>
              </a:spcAft>
              <a:buSzPts val="1200"/>
              <a:buChar char="◼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4812029" y="1043609"/>
            <a:ext cx="3896100" cy="33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04800" lvl="0" marL="4572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200"/>
              <a:buChar char="◼"/>
              <a:defRPr/>
            </a:lvl1pPr>
            <a:lvl2pPr indent="-304800" lvl="1" marL="9144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2pPr>
            <a:lvl3pPr indent="-304800" lvl="2" marL="13716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3pPr>
            <a:lvl4pPr indent="-304800" lvl="3" marL="1828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4pPr>
            <a:lvl5pPr indent="-304800" lvl="4" marL="22860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5pPr>
            <a:lvl6pPr indent="-304800" lvl="5" marL="27432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6pPr>
            <a:lvl7pPr indent="-304800" lvl="6" marL="32004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7pPr>
            <a:lvl8pPr indent="-304800" lvl="7" marL="36576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8pPr>
            <a:lvl9pPr indent="-304800" lvl="8" marL="4114800" algn="l">
              <a:spcBef>
                <a:spcPts val="500"/>
              </a:spcBef>
              <a:spcAft>
                <a:spcPts val="500"/>
              </a:spcAft>
              <a:buSzPts val="1200"/>
              <a:buChar char="◼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5704463" y="481793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435894" y="4817936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7918725" y="4817936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35895" y="547244"/>
            <a:ext cx="82722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35893" y="1688168"/>
            <a:ext cx="38961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b="0" sz="15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 b="1" sz="15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200"/>
              <a:buNone/>
              <a:defRPr b="1" sz="1400"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1100"/>
              <a:buNone/>
              <a:defRPr b="1" sz="1200"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1100"/>
              <a:buNone/>
              <a:defRPr b="1" sz="12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1100"/>
              <a:buNone/>
              <a:defRPr b="1" sz="12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1100"/>
              <a:buNone/>
              <a:defRPr b="1" sz="12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1100"/>
              <a:buNone/>
              <a:defRPr b="1" sz="1200"/>
            </a:lvl8pPr>
            <a:lvl9pPr indent="-228600" lvl="8" marL="4114800" algn="l">
              <a:spcBef>
                <a:spcPts val="500"/>
              </a:spcBef>
              <a:spcAft>
                <a:spcPts val="500"/>
              </a:spcAft>
              <a:buSzPts val="1100"/>
              <a:buNone/>
              <a:defRPr b="1" sz="12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35896" y="2194539"/>
            <a:ext cx="38961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04800" lvl="0" marL="4572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200"/>
              <a:buChar char="◼"/>
              <a:defRPr/>
            </a:lvl1pPr>
            <a:lvl2pPr indent="-304800" lvl="1" marL="9144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2pPr>
            <a:lvl3pPr indent="-304800" lvl="2" marL="13716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3pPr>
            <a:lvl4pPr indent="-304800" lvl="3" marL="1828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4pPr>
            <a:lvl5pPr indent="-304800" lvl="4" marL="22860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5pPr>
            <a:lvl6pPr indent="-304800" lvl="5" marL="27432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6pPr>
            <a:lvl7pPr indent="-304800" lvl="6" marL="32004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7pPr>
            <a:lvl8pPr indent="-304800" lvl="7" marL="36576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8pPr>
            <a:lvl9pPr indent="-304800" lvl="8" marL="4114800" algn="l">
              <a:spcBef>
                <a:spcPts val="500"/>
              </a:spcBef>
              <a:spcAft>
                <a:spcPts val="500"/>
              </a:spcAft>
              <a:buSzPts val="1200"/>
              <a:buChar char="◼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4812029" y="1688169"/>
            <a:ext cx="38961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None/>
              <a:defRPr b="0" sz="15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 b="1" sz="15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200"/>
              <a:buNone/>
              <a:defRPr b="1" sz="1400"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1100"/>
              <a:buNone/>
              <a:defRPr b="1" sz="1200"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1100"/>
              <a:buNone/>
              <a:defRPr b="1" sz="12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1100"/>
              <a:buNone/>
              <a:defRPr b="1" sz="12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1100"/>
              <a:buNone/>
              <a:defRPr b="1" sz="12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1100"/>
              <a:buNone/>
              <a:defRPr b="1" sz="1200"/>
            </a:lvl8pPr>
            <a:lvl9pPr indent="-228600" lvl="8" marL="4114800" algn="l">
              <a:spcBef>
                <a:spcPts val="500"/>
              </a:spcBef>
              <a:spcAft>
                <a:spcPts val="500"/>
              </a:spcAft>
              <a:buSzPts val="1100"/>
              <a:buNone/>
              <a:defRPr b="1" sz="12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4812028" y="2194539"/>
            <a:ext cx="38961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04800" lvl="0" marL="4572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200"/>
              <a:buChar char="◼"/>
              <a:defRPr/>
            </a:lvl1pPr>
            <a:lvl2pPr indent="-304800" lvl="1" marL="9144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2pPr>
            <a:lvl3pPr indent="-304800" lvl="2" marL="13716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3pPr>
            <a:lvl4pPr indent="-304800" lvl="3" marL="1828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4pPr>
            <a:lvl5pPr indent="-304800" lvl="4" marL="22860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5pPr>
            <a:lvl6pPr indent="-304800" lvl="5" marL="27432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6pPr>
            <a:lvl7pPr indent="-304800" lvl="6" marL="32004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7pPr>
            <a:lvl8pPr indent="-304800" lvl="7" marL="36576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8pPr>
            <a:lvl9pPr indent="-304800" lvl="8" marL="4114800" algn="l">
              <a:spcBef>
                <a:spcPts val="500"/>
              </a:spcBef>
              <a:spcAft>
                <a:spcPts val="500"/>
              </a:spcAft>
              <a:buSzPts val="1200"/>
              <a:buChar char="◼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5704463" y="481793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435894" y="4817936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7918725" y="4817936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idx="10" type="dt"/>
          </p:nvPr>
        </p:nvSpPr>
        <p:spPr>
          <a:xfrm>
            <a:off x="5704463" y="481793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435894" y="4817936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7918725" y="4817936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/>
          <p:nvPr/>
        </p:nvSpPr>
        <p:spPr>
          <a:xfrm>
            <a:off x="335863" y="450900"/>
            <a:ext cx="2762100" cy="4361700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9"/>
          <p:cNvSpPr txBox="1"/>
          <p:nvPr>
            <p:ph type="title"/>
          </p:nvPr>
        </p:nvSpPr>
        <p:spPr>
          <a:xfrm>
            <a:off x="575893" y="700088"/>
            <a:ext cx="2274000" cy="12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ranklin Gothic"/>
              <a:buNone/>
              <a:defRPr b="0" sz="18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675696" y="884872"/>
            <a:ext cx="4988100" cy="3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400"/>
              <a:buChar char="◼"/>
              <a:defRPr sz="1500">
                <a:solidFill>
                  <a:schemeClr val="dk2"/>
                </a:solidFill>
              </a:defRPr>
            </a:lvl1pPr>
            <a:lvl2pPr indent="-304800" lvl="1" marL="9144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 sz="1400">
                <a:solidFill>
                  <a:schemeClr val="dk2"/>
                </a:solidFill>
              </a:defRPr>
            </a:lvl2pPr>
            <a:lvl3pPr indent="-298450" lvl="2" marL="1371600" algn="l">
              <a:spcBef>
                <a:spcPts val="500"/>
              </a:spcBef>
              <a:spcAft>
                <a:spcPts val="0"/>
              </a:spcAft>
              <a:buSzPts val="1100"/>
              <a:buChar char="◼"/>
              <a:defRPr sz="1200">
                <a:solidFill>
                  <a:schemeClr val="dk2"/>
                </a:solidFill>
              </a:defRPr>
            </a:lvl3pPr>
            <a:lvl4pPr indent="-292100" lvl="3" marL="1828800" algn="l">
              <a:spcBef>
                <a:spcPts val="500"/>
              </a:spcBef>
              <a:spcAft>
                <a:spcPts val="0"/>
              </a:spcAft>
              <a:buSzPts val="1000"/>
              <a:buChar char="◼"/>
              <a:defRPr sz="1100">
                <a:solidFill>
                  <a:schemeClr val="dk2"/>
                </a:solidFill>
              </a:defRPr>
            </a:lvl4pPr>
            <a:lvl5pPr indent="-292100" lvl="4" marL="2286000" algn="l">
              <a:spcBef>
                <a:spcPts val="500"/>
              </a:spcBef>
              <a:spcAft>
                <a:spcPts val="0"/>
              </a:spcAft>
              <a:buSzPts val="1000"/>
              <a:buChar char="◼"/>
              <a:defRPr sz="1100">
                <a:solidFill>
                  <a:schemeClr val="dk2"/>
                </a:solidFill>
              </a:defRPr>
            </a:lvl5pPr>
            <a:lvl6pPr indent="-292100" lvl="5" marL="2743200" algn="l">
              <a:spcBef>
                <a:spcPts val="500"/>
              </a:spcBef>
              <a:spcAft>
                <a:spcPts val="0"/>
              </a:spcAft>
              <a:buSzPts val="1000"/>
              <a:buChar char="◼"/>
              <a:defRPr sz="1100">
                <a:solidFill>
                  <a:schemeClr val="dk2"/>
                </a:solidFill>
              </a:defRPr>
            </a:lvl6pPr>
            <a:lvl7pPr indent="-292100" lvl="6" marL="3200400" algn="l">
              <a:spcBef>
                <a:spcPts val="500"/>
              </a:spcBef>
              <a:spcAft>
                <a:spcPts val="0"/>
              </a:spcAft>
              <a:buSzPts val="1000"/>
              <a:buChar char="◼"/>
              <a:defRPr sz="1100">
                <a:solidFill>
                  <a:schemeClr val="dk2"/>
                </a:solidFill>
              </a:defRPr>
            </a:lvl7pPr>
            <a:lvl8pPr indent="-292100" lvl="7" marL="3657600" algn="l">
              <a:spcBef>
                <a:spcPts val="500"/>
              </a:spcBef>
              <a:spcAft>
                <a:spcPts val="0"/>
              </a:spcAft>
              <a:buSzPts val="1000"/>
              <a:buChar char="◼"/>
              <a:defRPr sz="1100">
                <a:solidFill>
                  <a:schemeClr val="dk2"/>
                </a:solidFill>
              </a:defRPr>
            </a:lvl8pPr>
            <a:lvl9pPr indent="-292100" lvl="8" marL="4114800" algn="l">
              <a:spcBef>
                <a:spcPts val="500"/>
              </a:spcBef>
              <a:spcAft>
                <a:spcPts val="500"/>
              </a:spcAft>
              <a:buSzPts val="1000"/>
              <a:buChar char="◼"/>
              <a:defRPr sz="11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575893" y="2127491"/>
            <a:ext cx="2274000" cy="22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FFFFFF"/>
                </a:solidFill>
              </a:defRPr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700"/>
              <a:buNone/>
              <a:defRPr sz="800"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600"/>
              <a:buNone/>
              <a:defRPr sz="700"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600"/>
              <a:buNone/>
              <a:defRPr sz="7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600"/>
              <a:buNone/>
              <a:defRPr sz="7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600"/>
              <a:buNone/>
              <a:defRPr sz="7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600"/>
              <a:buNone/>
              <a:defRPr sz="700"/>
            </a:lvl8pPr>
            <a:lvl9pPr indent="-228600" lvl="8" marL="4114800" algn="l">
              <a:spcBef>
                <a:spcPts val="500"/>
              </a:spcBef>
              <a:spcAft>
                <a:spcPts val="500"/>
              </a:spcAft>
              <a:buSzPts val="600"/>
              <a:buNone/>
              <a:defRPr sz="7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5704463" y="4842687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35894" y="4839443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918725" y="4842687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35895" y="3520042"/>
            <a:ext cx="82722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b="0" sz="1800"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335863" y="481013"/>
            <a:ext cx="8468100" cy="2738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35894" y="3945095"/>
            <a:ext cx="8272200" cy="7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 sz="1200"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800"/>
              <a:buNone/>
              <a:defRPr sz="9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700"/>
              <a:buNone/>
              <a:defRPr sz="800"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600"/>
              <a:buNone/>
              <a:defRPr sz="700"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600"/>
              <a:buNone/>
              <a:defRPr sz="7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600"/>
              <a:buNone/>
              <a:defRPr sz="7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600"/>
              <a:buNone/>
              <a:defRPr sz="7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600"/>
              <a:buNone/>
              <a:defRPr sz="700"/>
            </a:lvl8pPr>
            <a:lvl9pPr indent="-228600" lvl="8" marL="4114800" algn="l">
              <a:spcBef>
                <a:spcPts val="500"/>
              </a:spcBef>
              <a:spcAft>
                <a:spcPts val="500"/>
              </a:spcAft>
              <a:buSzPts val="600"/>
              <a:buNone/>
              <a:defRPr sz="7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5704463" y="481793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35894" y="4817936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7918725" y="4817936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57206" y="-1359901"/>
            <a:ext cx="3429600" cy="82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04800" lvl="0" marL="4572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200"/>
              <a:buChar char="◼"/>
              <a:defRPr/>
            </a:lvl1pPr>
            <a:lvl2pPr indent="-292100" lvl="1" marL="914400" algn="l">
              <a:spcBef>
                <a:spcPts val="500"/>
              </a:spcBef>
              <a:spcAft>
                <a:spcPts val="0"/>
              </a:spcAft>
              <a:buSzPts val="1000"/>
              <a:buChar char="◼"/>
              <a:defRPr/>
            </a:lvl2pPr>
            <a:lvl3pPr indent="-285750" lvl="2" marL="1371600" algn="l">
              <a:spcBef>
                <a:spcPts val="500"/>
              </a:spcBef>
              <a:spcAft>
                <a:spcPts val="0"/>
              </a:spcAft>
              <a:buSzPts val="900"/>
              <a:buChar char="◼"/>
              <a:defRPr/>
            </a:lvl3pPr>
            <a:lvl4pPr indent="-279400" lvl="3" marL="1828800" algn="l">
              <a:spcBef>
                <a:spcPts val="500"/>
              </a:spcBef>
              <a:spcAft>
                <a:spcPts val="0"/>
              </a:spcAft>
              <a:buSzPts val="800"/>
              <a:buChar char="◼"/>
              <a:defRPr/>
            </a:lvl4pPr>
            <a:lvl5pPr indent="-279400" lvl="4" marL="2286000" algn="l">
              <a:spcBef>
                <a:spcPts val="500"/>
              </a:spcBef>
              <a:spcAft>
                <a:spcPts val="0"/>
              </a:spcAft>
              <a:buSzPts val="800"/>
              <a:buChar char="◼"/>
              <a:defRPr/>
            </a:lvl5pPr>
            <a:lvl6pPr indent="-304800" lvl="5" marL="27432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6pPr>
            <a:lvl7pPr indent="-304800" lvl="6" marL="32004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7pPr>
            <a:lvl8pPr indent="-304800" lvl="7" marL="36576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8pPr>
            <a:lvl9pPr indent="-304800" lvl="8" marL="4114800" algn="l">
              <a:spcBef>
                <a:spcPts val="500"/>
              </a:spcBef>
              <a:spcAft>
                <a:spcPts val="500"/>
              </a:spcAft>
              <a:buSzPts val="1200"/>
              <a:buChar char="◼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5704463" y="481793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35894" y="4817936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7918725" y="4817936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/>
          <p:nvPr/>
        </p:nvSpPr>
        <p:spPr>
          <a:xfrm>
            <a:off x="6043613" y="449794"/>
            <a:ext cx="2765400" cy="4362600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2"/>
          <p:cNvSpPr txBox="1"/>
          <p:nvPr>
            <p:ph type="title"/>
          </p:nvPr>
        </p:nvSpPr>
        <p:spPr>
          <a:xfrm rot="5400000">
            <a:off x="5522100" y="1278900"/>
            <a:ext cx="3605400" cy="23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Franklin Gothic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" type="body"/>
          </p:nvPr>
        </p:nvSpPr>
        <p:spPr>
          <a:xfrm rot="5400000">
            <a:off x="1464111" y="-235200"/>
            <a:ext cx="3605400" cy="53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04800" lvl="0" marL="4572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200"/>
              <a:buChar char="◼"/>
              <a:defRPr/>
            </a:lvl1pPr>
            <a:lvl2pPr indent="-304800" lvl="1" marL="9144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2pPr>
            <a:lvl3pPr indent="-304800" lvl="2" marL="13716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3pPr>
            <a:lvl4pPr indent="-304800" lvl="3" marL="18288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4pPr>
            <a:lvl5pPr indent="-304800" lvl="4" marL="22860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5pPr>
            <a:lvl6pPr indent="-304800" lvl="5" marL="27432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6pPr>
            <a:lvl7pPr indent="-304800" lvl="6" marL="32004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7pPr>
            <a:lvl8pPr indent="-304800" lvl="7" marL="3657600" algn="l">
              <a:spcBef>
                <a:spcPts val="500"/>
              </a:spcBef>
              <a:spcAft>
                <a:spcPts val="0"/>
              </a:spcAft>
              <a:buSzPts val="1200"/>
              <a:buChar char="◼"/>
              <a:defRPr/>
            </a:lvl8pPr>
            <a:lvl9pPr indent="-304800" lvl="8" marL="4114800" algn="l">
              <a:spcBef>
                <a:spcPts val="500"/>
              </a:spcBef>
              <a:spcAft>
                <a:spcPts val="500"/>
              </a:spcAft>
              <a:buSzPts val="1200"/>
              <a:buChar char="◼"/>
              <a:defRPr/>
            </a:lvl9pPr>
          </a:lstStyle>
          <a:p/>
        </p:txBody>
      </p:sp>
      <p:sp>
        <p:nvSpPr>
          <p:cNvPr id="82" name="Google Shape;82;p12"/>
          <p:cNvSpPr/>
          <p:nvPr/>
        </p:nvSpPr>
        <p:spPr>
          <a:xfrm>
            <a:off x="334901" y="342900"/>
            <a:ext cx="2777400" cy="71100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2"/>
          <p:cNvSpPr/>
          <p:nvPr/>
        </p:nvSpPr>
        <p:spPr>
          <a:xfrm>
            <a:off x="6031610" y="340232"/>
            <a:ext cx="2777400" cy="73800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2"/>
          <p:cNvSpPr/>
          <p:nvPr/>
        </p:nvSpPr>
        <p:spPr>
          <a:xfrm>
            <a:off x="3181373" y="342900"/>
            <a:ext cx="2777400" cy="6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2"/>
          <p:cNvSpPr txBox="1"/>
          <p:nvPr>
            <p:ph idx="10" type="dt"/>
          </p:nvPr>
        </p:nvSpPr>
        <p:spPr>
          <a:xfrm>
            <a:off x="5704463" y="481793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1" type="ftr"/>
          </p:nvPr>
        </p:nvSpPr>
        <p:spPr>
          <a:xfrm>
            <a:off x="435894" y="4817936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12" type="sldNum"/>
          </p:nvPr>
        </p:nvSpPr>
        <p:spPr>
          <a:xfrm>
            <a:off x="7918725" y="4817936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71488cc9d_29_0)">
  <p:cSld name="Generated (g3f71488cc9d_29_0)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 Slide (g3f71488cc9d_22_0)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ctrTitle"/>
          </p:nvPr>
        </p:nvSpPr>
        <p:spPr>
          <a:xfrm>
            <a:off x="435893" y="765323"/>
            <a:ext cx="8245200" cy="11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700"/>
              <a:buFont typeface="Franklin Gothic"/>
              <a:buNone/>
              <a:defRPr sz="2700"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idx="1" type="subTitle"/>
          </p:nvPr>
        </p:nvSpPr>
        <p:spPr>
          <a:xfrm>
            <a:off x="435896" y="1871584"/>
            <a:ext cx="8245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 sz="1200" cap="none">
                <a:solidFill>
                  <a:schemeClr val="accent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00"/>
              </a:spcBef>
              <a:spcAft>
                <a:spcPts val="500"/>
              </a:spcAft>
              <a:buSzPts val="8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2" name="Google Shape;92;p14"/>
          <p:cNvSpPr txBox="1"/>
          <p:nvPr>
            <p:ph idx="10" type="dt"/>
          </p:nvPr>
        </p:nvSpPr>
        <p:spPr>
          <a:xfrm>
            <a:off x="5704463" y="481793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11" type="ftr"/>
          </p:nvPr>
        </p:nvSpPr>
        <p:spPr>
          <a:xfrm>
            <a:off x="435894" y="4817936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4" name="Google Shape;94;p14"/>
          <p:cNvSpPr txBox="1"/>
          <p:nvPr>
            <p:ph idx="12" type="sldNum"/>
          </p:nvPr>
        </p:nvSpPr>
        <p:spPr>
          <a:xfrm>
            <a:off x="7918725" y="4817936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35894" y="528843"/>
            <a:ext cx="82722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Font typeface="Franklin Gothic"/>
              <a:buNone/>
              <a:defRPr b="0" i="0" sz="2100" u="none" cap="none" strike="noStrik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35894" y="1061399"/>
            <a:ext cx="8272200" cy="3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04800" lvl="0" marL="45720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◼"/>
              <a:defRPr b="0" i="0" sz="13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292100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◼"/>
              <a:defRPr b="0" i="0" sz="11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285750" lvl="2" marL="1371600" marR="0" rtl="0" algn="l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◼"/>
              <a:defRPr b="0" i="0" sz="10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279400" lvl="3" marL="1828800" marR="0" rtl="0" algn="l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◼"/>
              <a:defRPr b="0" i="0" sz="8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2794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◼"/>
              <a:defRPr b="0" i="0" sz="8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2794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b="0" i="0" sz="9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2794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b="0" i="0" sz="9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2794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b="0" i="0" sz="9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279400" lvl="8" marL="4114800" marR="0" rtl="0" algn="l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◼"/>
              <a:defRPr b="0" i="0" sz="9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5704463" y="4817936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7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7918725" y="4817936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7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" name="Google Shape;10;p1"/>
          <p:cNvSpPr/>
          <p:nvPr/>
        </p:nvSpPr>
        <p:spPr>
          <a:xfrm>
            <a:off x="334901" y="342900"/>
            <a:ext cx="2777400" cy="71100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6031610" y="340232"/>
            <a:ext cx="2777400" cy="73800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"/>
          <p:cNvSpPr/>
          <p:nvPr/>
        </p:nvSpPr>
        <p:spPr>
          <a:xfrm>
            <a:off x="3181373" y="342900"/>
            <a:ext cx="2777400" cy="6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&#10;&#10;Description automatically generated" id="13" name="Google Shape;1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863752" y="4828433"/>
            <a:ext cx="844353" cy="27384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0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9" Type="http://schemas.openxmlformats.org/officeDocument/2006/relationships/image" Target="../media/image14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13.png"/><Relationship Id="rId8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github.com/Piyu242005/AI-Fashion-Design-Generator-IBM-INTERSHIP-2026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ai-fashion-design-generator-ibm-int.vercel.app/" TargetMode="External"/><Relationship Id="rId4" Type="http://schemas.openxmlformats.org/officeDocument/2006/relationships/hyperlink" Target="https://github.com/Piyu242005/AI-Fashion-Design-Generator-IBM-INTERSHIP-2026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/>
          <p:nvPr/>
        </p:nvSpPr>
        <p:spPr>
          <a:xfrm>
            <a:off x="762000" y="2095500"/>
            <a:ext cx="7620000" cy="2095500"/>
          </a:xfrm>
          <a:prstGeom prst="rect">
            <a:avLst/>
          </a:prstGeom>
          <a:solidFill>
            <a:srgbClr val="2C3A4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5"/>
          <p:cNvSpPr txBox="1"/>
          <p:nvPr>
            <p:ph type="ctrTitle"/>
          </p:nvPr>
        </p:nvSpPr>
        <p:spPr>
          <a:xfrm>
            <a:off x="762000" y="1095375"/>
            <a:ext cx="7620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800">
                <a:solidFill>
                  <a:srgbClr val="1CADE4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AI FASHION DESIGN GENERATOR</a:t>
            </a:r>
            <a:endParaRPr b="0" sz="2800">
              <a:solidFill>
                <a:srgbClr val="1CADE4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762000" y="714375"/>
            <a:ext cx="76200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1482AB"/>
                </a:solidFill>
                <a:latin typeface="Montserrat"/>
                <a:ea typeface="Montserrat"/>
                <a:cs typeface="Montserrat"/>
                <a:sym typeface="Montserrat"/>
              </a:rPr>
              <a:t>CAPSTONE</a:t>
            </a:r>
            <a:r>
              <a:rPr b="1" lang="en-GB" sz="1300">
                <a:solidFill>
                  <a:srgbClr val="1482AB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-GB" sz="1300">
                <a:solidFill>
                  <a:srgbClr val="1482AB"/>
                </a:solidFill>
                <a:latin typeface="Montserrat"/>
                <a:ea typeface="Montserrat"/>
                <a:cs typeface="Montserrat"/>
                <a:sym typeface="Montserrat"/>
              </a:rPr>
              <a:t>PROJECT</a:t>
            </a:r>
            <a:endParaRPr b="1" sz="1300">
              <a:solidFill>
                <a:srgbClr val="1482A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762000" y="2095500"/>
            <a:ext cx="7620000" cy="187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238125" lIns="476250" spcFirstLastPara="1" rIns="476250" wrap="square" tIns="2381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8E9AA0"/>
                </a:solidFill>
                <a:latin typeface="Inter"/>
                <a:ea typeface="Inter"/>
                <a:cs typeface="Inter"/>
                <a:sym typeface="Inter"/>
              </a:rPr>
              <a:t>Presented By</a:t>
            </a:r>
            <a:endParaRPr b="1" sz="1100">
              <a:solidFill>
                <a:srgbClr val="8E9AA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0" lang="en-GB" sz="1300">
                <a:solidFill>
                  <a:srgbClr val="1CADE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Student Name:</a:t>
            </a:r>
            <a:r>
              <a:rPr lang="en-GB" sz="13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Piyush Parmanand Ramteke</a:t>
            </a:r>
            <a:endParaRPr sz="130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-GB" sz="1300">
                <a:solidFill>
                  <a:srgbClr val="1CADE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College Name:</a:t>
            </a:r>
            <a:r>
              <a:rPr lang="en-GB" sz="13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G H Raisoni University, Amravati</a:t>
            </a:r>
            <a:endParaRPr sz="130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-GB" sz="1300">
                <a:solidFill>
                  <a:srgbClr val="1CADE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Department:</a:t>
            </a:r>
            <a:r>
              <a:rPr lang="en-GB" sz="13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BCA</a:t>
            </a:r>
            <a:endParaRPr sz="130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-GB" sz="1300">
                <a:solidFill>
                  <a:srgbClr val="1CADE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AICTE ID:</a:t>
            </a:r>
            <a:r>
              <a:rPr lang="en-GB" sz="13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STU6a0db90a60d191779284234</a:t>
            </a:r>
            <a:endParaRPr sz="130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571500" y="523875"/>
            <a:ext cx="78867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300">
                <a:solidFill>
                  <a:srgbClr val="1CADE4"/>
                </a:solidFill>
                <a:latin typeface="Arial"/>
                <a:ea typeface="Arial"/>
                <a:cs typeface="Arial"/>
                <a:sym typeface="Arial"/>
              </a:rPr>
              <a:t>OUTLINE</a:t>
            </a:r>
            <a:endParaRPr b="1" sz="3300">
              <a:solidFill>
                <a:srgbClr val="1CADE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8" name="Google Shape;108;p16"/>
          <p:cNvGrpSpPr/>
          <p:nvPr/>
        </p:nvGrpSpPr>
        <p:grpSpPr>
          <a:xfrm>
            <a:off x="571500" y="1381125"/>
            <a:ext cx="8001000" cy="3048000"/>
            <a:chOff x="571500" y="1381125"/>
            <a:chExt cx="8001000" cy="3048000"/>
          </a:xfrm>
        </p:grpSpPr>
        <p:sp>
          <p:nvSpPr>
            <p:cNvPr id="109" name="Google Shape;109;p16"/>
            <p:cNvSpPr txBox="1"/>
            <p:nvPr/>
          </p:nvSpPr>
          <p:spPr>
            <a:xfrm>
              <a:off x="571500" y="1381125"/>
              <a:ext cx="2476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1CAD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01</a:t>
              </a:r>
              <a:r>
                <a:rPr b="1" lang="en-GB" sz="1200">
                  <a:solidFill>
                    <a:srgbClr val="1F1F1F"/>
                  </a:solidFill>
                  <a:latin typeface="Arial"/>
                  <a:ea typeface="Arial"/>
                  <a:cs typeface="Arial"/>
                  <a:sym typeface="Arial"/>
                </a:rPr>
                <a:t>Introduction / Background</a:t>
              </a:r>
              <a:endParaRPr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1CAD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02</a:t>
              </a:r>
              <a:r>
                <a:rPr b="1" lang="en-GB" sz="1200">
                  <a:solidFill>
                    <a:srgbClr val="1F1F1F"/>
                  </a:solidFill>
                  <a:latin typeface="Arial"/>
                  <a:ea typeface="Arial"/>
                  <a:cs typeface="Arial"/>
                  <a:sym typeface="Arial"/>
                </a:rPr>
                <a:t>Problem Statement</a:t>
              </a:r>
              <a:br>
                <a:rPr b="1" lang="en-GB" sz="1200">
                  <a:solidFill>
                    <a:srgbClr val="1F1F1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en-GB" sz="1000">
                  <a:solidFill>
                    <a:srgbClr val="7F8C8D"/>
                  </a:solidFill>
                  <a:latin typeface="Arial"/>
                  <a:ea typeface="Arial"/>
                  <a:cs typeface="Arial"/>
                  <a:sym typeface="Arial"/>
                </a:rPr>
                <a:t>(Excludes solution)</a:t>
              </a:r>
              <a:endParaRPr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1CAD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03</a:t>
              </a:r>
              <a:r>
                <a:rPr b="1" lang="en-GB" sz="1200">
                  <a:solidFill>
                    <a:srgbClr val="1F1F1F"/>
                  </a:solidFill>
                  <a:latin typeface="Arial"/>
                  <a:ea typeface="Arial"/>
                  <a:cs typeface="Arial"/>
                  <a:sym typeface="Arial"/>
                </a:rPr>
                <a:t>System Architecture</a:t>
              </a:r>
              <a:br>
                <a:rPr b="1" lang="en-GB" sz="1200">
                  <a:solidFill>
                    <a:srgbClr val="1F1F1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en-GB" sz="1000">
                  <a:solidFill>
                    <a:srgbClr val="7F8C8D"/>
                  </a:solidFill>
                  <a:latin typeface="Arial"/>
                  <a:ea typeface="Arial"/>
                  <a:cs typeface="Arial"/>
                  <a:sym typeface="Arial"/>
                </a:rPr>
                <a:t>/ Workflow</a:t>
              </a:r>
              <a:endParaRPr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1350"/>
                </a:spcAft>
                <a:buNone/>
              </a:pPr>
              <a:r>
                <a:rPr b="1" lang="en-GB" sz="1400">
                  <a:solidFill>
                    <a:srgbClr val="1CAD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04</a:t>
              </a:r>
              <a:r>
                <a:rPr b="1" lang="en-GB" sz="1200">
                  <a:solidFill>
                    <a:srgbClr val="1F1F1F"/>
                  </a:solidFill>
                  <a:latin typeface="Arial"/>
                  <a:ea typeface="Arial"/>
                  <a:cs typeface="Arial"/>
                  <a:sym typeface="Arial"/>
                </a:rPr>
                <a:t>Key Features / Modules</a:t>
              </a:r>
              <a:endParaRPr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6"/>
            <p:cNvSpPr txBox="1"/>
            <p:nvPr/>
          </p:nvSpPr>
          <p:spPr>
            <a:xfrm>
              <a:off x="3333750" y="1381125"/>
              <a:ext cx="2476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1CAD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05</a:t>
              </a:r>
              <a:r>
                <a:rPr b="1" lang="en-GB" sz="1200">
                  <a:solidFill>
                    <a:srgbClr val="1F1F1F"/>
                  </a:solidFill>
                  <a:latin typeface="Arial"/>
                  <a:ea typeface="Arial"/>
                  <a:cs typeface="Arial"/>
                  <a:sym typeface="Arial"/>
                </a:rPr>
                <a:t>Proposed System / Solution</a:t>
              </a:r>
              <a:endParaRPr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1CAD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06</a:t>
              </a:r>
              <a:r>
                <a:rPr b="1" lang="en-GB" sz="1200">
                  <a:solidFill>
                    <a:srgbClr val="1F1F1F"/>
                  </a:solidFill>
                  <a:latin typeface="Arial"/>
                  <a:ea typeface="Arial"/>
                  <a:cs typeface="Arial"/>
                  <a:sym typeface="Arial"/>
                </a:rPr>
                <a:t>System Development</a:t>
              </a:r>
              <a:br>
                <a:rPr b="1" lang="en-GB" sz="1200">
                  <a:solidFill>
                    <a:srgbClr val="1F1F1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en-GB" sz="1000">
                  <a:solidFill>
                    <a:srgbClr val="7F8C8D"/>
                  </a:solidFill>
                  <a:latin typeface="Arial"/>
                  <a:ea typeface="Arial"/>
                  <a:cs typeface="Arial"/>
                  <a:sym typeface="Arial"/>
                </a:rPr>
                <a:t>(Technology Used)</a:t>
              </a:r>
              <a:endParaRPr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1CAD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07</a:t>
              </a:r>
              <a:r>
                <a:rPr b="1" lang="en-GB" sz="1200">
                  <a:solidFill>
                    <a:srgbClr val="1F1F1F"/>
                  </a:solidFill>
                  <a:latin typeface="Arial"/>
                  <a:ea typeface="Arial"/>
                  <a:cs typeface="Arial"/>
                  <a:sym typeface="Arial"/>
                </a:rPr>
                <a:t>Algorithm &amp; Deployment</a:t>
              </a:r>
              <a:endParaRPr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1350"/>
                </a:spcAft>
                <a:buNone/>
              </a:pPr>
              <a:r>
                <a:rPr b="1" lang="en-GB" sz="1400">
                  <a:solidFill>
                    <a:srgbClr val="1CAD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08</a:t>
              </a:r>
              <a:r>
                <a:rPr b="1" lang="en-GB" sz="1200">
                  <a:solidFill>
                    <a:srgbClr val="1F1F1F"/>
                  </a:solidFill>
                  <a:latin typeface="Arial"/>
                  <a:ea typeface="Arial"/>
                  <a:cs typeface="Arial"/>
                  <a:sym typeface="Arial"/>
                </a:rPr>
                <a:t>Result</a:t>
              </a:r>
              <a:endParaRPr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6"/>
            <p:cNvSpPr txBox="1"/>
            <p:nvPr/>
          </p:nvSpPr>
          <p:spPr>
            <a:xfrm>
              <a:off x="6096000" y="1381125"/>
              <a:ext cx="2476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1CAD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09</a:t>
              </a:r>
              <a:r>
                <a:rPr b="1" lang="en-GB" sz="1200">
                  <a:solidFill>
                    <a:srgbClr val="1F1F1F"/>
                  </a:solidFill>
                  <a:latin typeface="Arial"/>
                  <a:ea typeface="Arial"/>
                  <a:cs typeface="Arial"/>
                  <a:sym typeface="Arial"/>
                </a:rPr>
                <a:t>Conclusion</a:t>
              </a:r>
              <a:endParaRPr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1CAD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10</a:t>
              </a:r>
              <a:r>
                <a:rPr b="1" lang="en-GB" sz="1200">
                  <a:solidFill>
                    <a:srgbClr val="1F1F1F"/>
                  </a:solidFill>
                  <a:latin typeface="Arial"/>
                  <a:ea typeface="Arial"/>
                  <a:cs typeface="Arial"/>
                  <a:sym typeface="Arial"/>
                </a:rPr>
                <a:t>Future Scope</a:t>
              </a:r>
              <a:endParaRPr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1CAD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11</a:t>
              </a:r>
              <a:r>
                <a:rPr b="1" lang="en-GB" sz="1200">
                  <a:solidFill>
                    <a:srgbClr val="1F1F1F"/>
                  </a:solidFill>
                  <a:latin typeface="Arial"/>
                  <a:ea typeface="Arial"/>
                  <a:cs typeface="Arial"/>
                  <a:sym typeface="Arial"/>
                </a:rPr>
                <a:t>Results / Screenshots</a:t>
              </a:r>
              <a:endParaRPr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1350"/>
                </a:spcAft>
                <a:buNone/>
              </a:pPr>
              <a:r>
                <a:rPr b="1" lang="en-GB" sz="1400">
                  <a:solidFill>
                    <a:srgbClr val="1CAD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12</a:t>
              </a:r>
              <a:r>
                <a:rPr b="1" lang="en-GB" sz="1200">
                  <a:solidFill>
                    <a:srgbClr val="1F1F1F"/>
                  </a:solidFill>
                  <a:latin typeface="Arial"/>
                  <a:ea typeface="Arial"/>
                  <a:cs typeface="Arial"/>
                  <a:sym typeface="Arial"/>
                </a:rPr>
                <a:t>References</a:t>
              </a:r>
              <a:endParaRPr sz="11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435894" y="523875"/>
            <a:ext cx="82722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3300">
                <a:solidFill>
                  <a:srgbClr val="1CADE4"/>
                </a:solidFill>
                <a:latin typeface="Arial"/>
                <a:ea typeface="Arial"/>
                <a:cs typeface="Arial"/>
                <a:sym typeface="Arial"/>
              </a:rPr>
              <a:t>INTRODUCTION &amp; BACKGROUND</a:t>
            </a:r>
            <a:endParaRPr b="1" i="0" sz="3300">
              <a:solidFill>
                <a:srgbClr val="1CADE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7" name="Google Shape;117;p17"/>
          <p:cNvGrpSpPr/>
          <p:nvPr/>
        </p:nvGrpSpPr>
        <p:grpSpPr>
          <a:xfrm>
            <a:off x="428625" y="1333500"/>
            <a:ext cx="8267775" cy="2952900"/>
            <a:chOff x="428625" y="1333500"/>
            <a:chExt cx="8267775" cy="2952900"/>
          </a:xfrm>
        </p:grpSpPr>
        <p:sp>
          <p:nvSpPr>
            <p:cNvPr id="118" name="Google Shape;118;p17"/>
            <p:cNvSpPr/>
            <p:nvPr/>
          </p:nvSpPr>
          <p:spPr>
            <a:xfrm>
              <a:off x="428625" y="1333500"/>
              <a:ext cx="1952700" cy="2952900"/>
            </a:xfrm>
            <a:prstGeom prst="roundRect">
              <a:avLst>
                <a:gd fmla="val 5853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7"/>
            <p:cNvSpPr/>
            <p:nvPr/>
          </p:nvSpPr>
          <p:spPr>
            <a:xfrm>
              <a:off x="2533650" y="1333500"/>
              <a:ext cx="1952700" cy="2952900"/>
            </a:xfrm>
            <a:prstGeom prst="roundRect">
              <a:avLst>
                <a:gd fmla="val 5853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7"/>
            <p:cNvSpPr/>
            <p:nvPr/>
          </p:nvSpPr>
          <p:spPr>
            <a:xfrm>
              <a:off x="4638675" y="1333500"/>
              <a:ext cx="1952700" cy="2952900"/>
            </a:xfrm>
            <a:prstGeom prst="roundRect">
              <a:avLst>
                <a:gd fmla="val 5853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7"/>
            <p:cNvSpPr/>
            <p:nvPr/>
          </p:nvSpPr>
          <p:spPr>
            <a:xfrm>
              <a:off x="6743700" y="1333500"/>
              <a:ext cx="1952700" cy="2952900"/>
            </a:xfrm>
            <a:prstGeom prst="roundRect">
              <a:avLst>
                <a:gd fmla="val 5853" name="adj"/>
              </a:avLst>
            </a:prstGeom>
            <a:solidFill>
              <a:srgbClr val="2C3A41"/>
            </a:solidFill>
            <a:ln cap="flat" cmpd="sng" w="19050">
              <a:solidFill>
                <a:srgbClr val="1CAD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17"/>
          <p:cNvSpPr txBox="1"/>
          <p:nvPr/>
        </p:nvSpPr>
        <p:spPr>
          <a:xfrm>
            <a:off x="428625" y="1333500"/>
            <a:ext cx="1952700" cy="295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228600" lIns="171450" spcFirstLastPara="1" rIns="171450" wrap="square" tIns="228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1CADE4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brush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1CADE4"/>
                </a:solidFill>
                <a:latin typeface="Montserrat"/>
                <a:ea typeface="Montserrat"/>
                <a:cs typeface="Montserrat"/>
                <a:sym typeface="Montserrat"/>
              </a:rPr>
              <a:t>01 / INSIGHT</a:t>
            </a:r>
            <a:endParaRPr b="1" sz="1000">
              <a:solidFill>
                <a:srgbClr val="1CADE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Manual Ideation</a:t>
            </a:r>
            <a:endParaRPr b="1" sz="14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GB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Creating and iterating on fashion concepts manually requires significant time and expertise.</a:t>
            </a:r>
            <a:endParaRPr b="0" sz="11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7"/>
          <p:cNvSpPr txBox="1"/>
          <p:nvPr/>
        </p:nvSpPr>
        <p:spPr>
          <a:xfrm>
            <a:off x="2533650" y="1333500"/>
            <a:ext cx="1952700" cy="295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228600" lIns="171450" spcFirstLastPara="1" rIns="171450" wrap="square" tIns="228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1CADE4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handyman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1CADE4"/>
                </a:solidFill>
                <a:latin typeface="Montserrat"/>
                <a:ea typeface="Montserrat"/>
                <a:cs typeface="Montserrat"/>
                <a:sym typeface="Montserrat"/>
              </a:rPr>
              <a:t>02 / BARRIER</a:t>
            </a:r>
            <a:endParaRPr b="1" sz="1000">
              <a:solidFill>
                <a:srgbClr val="1CADE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Specialist Tools</a:t>
            </a:r>
            <a:endParaRPr b="1" sz="14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GB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Professional design software can create technical and accessibility barriers for non-expert users.</a:t>
            </a:r>
            <a:endParaRPr b="0" sz="11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4638675" y="1333500"/>
            <a:ext cx="1952700" cy="295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228600" lIns="171450" spcFirstLastPara="1" rIns="171450" wrap="square" tIns="228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1CADE4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link_off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1CADE4"/>
                </a:solidFill>
                <a:latin typeface="Montserrat"/>
                <a:ea typeface="Montserrat"/>
                <a:cs typeface="Montserrat"/>
                <a:sym typeface="Montserrat"/>
              </a:rPr>
              <a:t>03 / INEFFICIENCY</a:t>
            </a:r>
            <a:endParaRPr b="1" sz="1000">
              <a:solidFill>
                <a:srgbClr val="1CADE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Fragmented Flow</a:t>
            </a:r>
            <a:endParaRPr b="1" sz="14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GB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Design generation, product discovery, and virtual try-on are commonly handled as separate processes.</a:t>
            </a:r>
            <a:endParaRPr b="0" sz="11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6743700" y="1333500"/>
            <a:ext cx="1952700" cy="295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228600" lIns="171450" spcFirstLastPara="1" rIns="171450" wrap="square" tIns="228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1CADE4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auto_awesome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1CADE4"/>
                </a:solidFill>
                <a:latin typeface="Montserrat"/>
                <a:ea typeface="Montserrat"/>
                <a:cs typeface="Montserrat"/>
                <a:sym typeface="Montserrat"/>
              </a:rPr>
              <a:t>04 / SOLUTION</a:t>
            </a:r>
            <a:endParaRPr b="1" sz="1000">
              <a:solidFill>
                <a:srgbClr val="1CADE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Opportunity</a:t>
            </a:r>
            <a:endParaRPr b="1" sz="1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GB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Generative AI can combine these stages into one unified fashion workflow.</a:t>
            </a:r>
            <a:endParaRPr b="0" sz="1100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>
            <p:ph type="title"/>
          </p:nvPr>
        </p:nvSpPr>
        <p:spPr>
          <a:xfrm>
            <a:off x="435894" y="650017"/>
            <a:ext cx="82722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b="1" lang="en-GB" sz="3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sz="3300"/>
          </a:p>
        </p:txBody>
      </p:sp>
      <p:grpSp>
        <p:nvGrpSpPr>
          <p:cNvPr id="132" name="Google Shape;132;p18"/>
          <p:cNvGrpSpPr/>
          <p:nvPr/>
        </p:nvGrpSpPr>
        <p:grpSpPr>
          <a:xfrm>
            <a:off x="571500" y="1000125"/>
            <a:ext cx="8001000" cy="619125"/>
            <a:chOff x="571500" y="1000125"/>
            <a:chExt cx="8001000" cy="619125"/>
          </a:xfrm>
        </p:grpSpPr>
        <p:sp>
          <p:nvSpPr>
            <p:cNvPr id="133" name="Google Shape;133;p18"/>
            <p:cNvSpPr txBox="1"/>
            <p:nvPr/>
          </p:nvSpPr>
          <p:spPr>
            <a:xfrm>
              <a:off x="571500" y="1000125"/>
              <a:ext cx="80010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7F8C8D"/>
                  </a:solidFill>
                  <a:latin typeface="Arial"/>
                  <a:ea typeface="Arial"/>
                  <a:cs typeface="Arial"/>
                  <a:sym typeface="Arial"/>
                </a:rPr>
                <a:t>Traditional Workflow</a:t>
              </a:r>
              <a:endParaRPr b="1" sz="1000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4" name="Google Shape;134;p18"/>
            <p:cNvGrpSpPr/>
            <p:nvPr/>
          </p:nvGrpSpPr>
          <p:grpSpPr>
            <a:xfrm>
              <a:off x="571500" y="1238250"/>
              <a:ext cx="1314600" cy="381000"/>
              <a:chOff x="571500" y="1238250"/>
              <a:chExt cx="1314600" cy="381000"/>
            </a:xfrm>
          </p:grpSpPr>
          <p:sp>
            <p:nvSpPr>
              <p:cNvPr id="135" name="Google Shape;135;p18"/>
              <p:cNvSpPr/>
              <p:nvPr/>
            </p:nvSpPr>
            <p:spPr>
              <a:xfrm>
                <a:off x="571500" y="1238250"/>
                <a:ext cx="1314600" cy="381000"/>
              </a:xfrm>
              <a:prstGeom prst="roundRect">
                <a:avLst>
                  <a:gd fmla="val 15000" name="adj"/>
                </a:avLst>
              </a:prstGeom>
              <a:solidFill>
                <a:srgbClr val="F1F5F9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18"/>
              <p:cNvSpPr txBox="1"/>
              <p:nvPr/>
            </p:nvSpPr>
            <p:spPr>
              <a:xfrm>
                <a:off x="571500" y="1238250"/>
                <a:ext cx="13146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00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1. Idea</a:t>
                </a:r>
                <a:endParaRPr b="1" sz="10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7" name="Google Shape;137;p18"/>
            <p:cNvSpPr txBox="1"/>
            <p:nvPr/>
          </p:nvSpPr>
          <p:spPr>
            <a:xfrm>
              <a:off x="1933575" y="1238250"/>
              <a:ext cx="171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➔</a:t>
              </a:r>
              <a:endParaRPr b="1" sz="1000">
                <a:solidFill>
                  <a:srgbClr val="1CADE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8" name="Google Shape;138;p18"/>
            <p:cNvGrpSpPr/>
            <p:nvPr/>
          </p:nvGrpSpPr>
          <p:grpSpPr>
            <a:xfrm>
              <a:off x="2143125" y="1238250"/>
              <a:ext cx="1314600" cy="381000"/>
              <a:chOff x="2143125" y="1238250"/>
              <a:chExt cx="1314600" cy="381000"/>
            </a:xfrm>
          </p:grpSpPr>
          <p:sp>
            <p:nvSpPr>
              <p:cNvPr id="139" name="Google Shape;139;p18"/>
              <p:cNvSpPr/>
              <p:nvPr/>
            </p:nvSpPr>
            <p:spPr>
              <a:xfrm>
                <a:off x="2143125" y="1238250"/>
                <a:ext cx="1314600" cy="381000"/>
              </a:xfrm>
              <a:prstGeom prst="roundRect">
                <a:avLst>
                  <a:gd fmla="val 15000" name="adj"/>
                </a:avLst>
              </a:prstGeom>
              <a:solidFill>
                <a:srgbClr val="F1F5F9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18"/>
              <p:cNvSpPr txBox="1"/>
              <p:nvPr/>
            </p:nvSpPr>
            <p:spPr>
              <a:xfrm>
                <a:off x="2143125" y="1238250"/>
                <a:ext cx="13146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00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2. Manual Design</a:t>
                </a:r>
                <a:endParaRPr b="1" sz="10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1" name="Google Shape;141;p18"/>
            <p:cNvSpPr txBox="1"/>
            <p:nvPr/>
          </p:nvSpPr>
          <p:spPr>
            <a:xfrm>
              <a:off x="3505200" y="1238250"/>
              <a:ext cx="171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➔</a:t>
              </a:r>
              <a:endParaRPr b="1" sz="1000">
                <a:solidFill>
                  <a:srgbClr val="1CADE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2" name="Google Shape;142;p18"/>
            <p:cNvGrpSpPr/>
            <p:nvPr/>
          </p:nvGrpSpPr>
          <p:grpSpPr>
            <a:xfrm>
              <a:off x="3714750" y="1238250"/>
              <a:ext cx="1314600" cy="381000"/>
              <a:chOff x="3714750" y="1238250"/>
              <a:chExt cx="1314600" cy="381000"/>
            </a:xfrm>
          </p:grpSpPr>
          <p:sp>
            <p:nvSpPr>
              <p:cNvPr id="143" name="Google Shape;143;p18"/>
              <p:cNvSpPr/>
              <p:nvPr/>
            </p:nvSpPr>
            <p:spPr>
              <a:xfrm>
                <a:off x="3714750" y="1238250"/>
                <a:ext cx="1314600" cy="381000"/>
              </a:xfrm>
              <a:prstGeom prst="roundRect">
                <a:avLst>
                  <a:gd fmla="val 15000" name="adj"/>
                </a:avLst>
              </a:prstGeom>
              <a:solidFill>
                <a:srgbClr val="F1F5F9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18"/>
              <p:cNvSpPr txBox="1"/>
              <p:nvPr/>
            </p:nvSpPr>
            <p:spPr>
              <a:xfrm>
                <a:off x="3714750" y="1238250"/>
                <a:ext cx="13146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00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3. Visualization</a:t>
                </a:r>
                <a:endParaRPr b="1" sz="10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5" name="Google Shape;145;p18"/>
            <p:cNvSpPr txBox="1"/>
            <p:nvPr/>
          </p:nvSpPr>
          <p:spPr>
            <a:xfrm>
              <a:off x="5076825" y="1238250"/>
              <a:ext cx="171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➔</a:t>
              </a:r>
              <a:endParaRPr b="1" sz="1000">
                <a:solidFill>
                  <a:srgbClr val="1CADE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6" name="Google Shape;146;p18"/>
            <p:cNvGrpSpPr/>
            <p:nvPr/>
          </p:nvGrpSpPr>
          <p:grpSpPr>
            <a:xfrm>
              <a:off x="5286375" y="1238250"/>
              <a:ext cx="1314600" cy="381000"/>
              <a:chOff x="5286375" y="1238250"/>
              <a:chExt cx="1314600" cy="381000"/>
            </a:xfrm>
          </p:grpSpPr>
          <p:sp>
            <p:nvSpPr>
              <p:cNvPr id="147" name="Google Shape;147;p18"/>
              <p:cNvSpPr/>
              <p:nvPr/>
            </p:nvSpPr>
            <p:spPr>
              <a:xfrm>
                <a:off x="5286375" y="1238250"/>
                <a:ext cx="1314600" cy="381000"/>
              </a:xfrm>
              <a:prstGeom prst="roundRect">
                <a:avLst>
                  <a:gd fmla="val 15000" name="adj"/>
                </a:avLst>
              </a:prstGeom>
              <a:solidFill>
                <a:srgbClr val="F1F5F9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18"/>
              <p:cNvSpPr txBox="1"/>
              <p:nvPr/>
            </p:nvSpPr>
            <p:spPr>
              <a:xfrm>
                <a:off x="5286375" y="1238250"/>
                <a:ext cx="13146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00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4. Product Search</a:t>
                </a:r>
                <a:endParaRPr b="1" sz="10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9" name="Google Shape;149;p18"/>
            <p:cNvSpPr txBox="1"/>
            <p:nvPr/>
          </p:nvSpPr>
          <p:spPr>
            <a:xfrm>
              <a:off x="6648450" y="1238250"/>
              <a:ext cx="171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➔</a:t>
              </a:r>
              <a:endParaRPr b="1" sz="1000">
                <a:solidFill>
                  <a:srgbClr val="1CADE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0" name="Google Shape;150;p18"/>
            <p:cNvGrpSpPr/>
            <p:nvPr/>
          </p:nvGrpSpPr>
          <p:grpSpPr>
            <a:xfrm>
              <a:off x="6858000" y="1238250"/>
              <a:ext cx="1314600" cy="381000"/>
              <a:chOff x="6858000" y="1238250"/>
              <a:chExt cx="1314600" cy="381000"/>
            </a:xfrm>
          </p:grpSpPr>
          <p:sp>
            <p:nvSpPr>
              <p:cNvPr id="151" name="Google Shape;151;p18"/>
              <p:cNvSpPr/>
              <p:nvPr/>
            </p:nvSpPr>
            <p:spPr>
              <a:xfrm>
                <a:off x="6858000" y="1238250"/>
                <a:ext cx="1314600" cy="381000"/>
              </a:xfrm>
              <a:prstGeom prst="roundRect">
                <a:avLst>
                  <a:gd fmla="val 15000" name="adj"/>
                </a:avLst>
              </a:prstGeom>
              <a:solidFill>
                <a:srgbClr val="1CADE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8"/>
              <p:cNvSpPr txBox="1"/>
              <p:nvPr/>
            </p:nvSpPr>
            <p:spPr>
              <a:xfrm>
                <a:off x="6858000" y="1238250"/>
                <a:ext cx="13146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0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5. Try-On</a:t>
                </a:r>
                <a:endParaRPr b="1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53" name="Google Shape;153;p18"/>
          <p:cNvGrpSpPr/>
          <p:nvPr/>
        </p:nvGrpSpPr>
        <p:grpSpPr>
          <a:xfrm>
            <a:off x="571500" y="1857375"/>
            <a:ext cx="7905750" cy="2476500"/>
            <a:chOff x="571500" y="1857375"/>
            <a:chExt cx="7905750" cy="2476500"/>
          </a:xfrm>
        </p:grpSpPr>
        <p:grpSp>
          <p:nvGrpSpPr>
            <p:cNvPr id="154" name="Google Shape;154;p18"/>
            <p:cNvGrpSpPr/>
            <p:nvPr/>
          </p:nvGrpSpPr>
          <p:grpSpPr>
            <a:xfrm>
              <a:off x="571500" y="1857375"/>
              <a:ext cx="3810000" cy="2476500"/>
              <a:chOff x="571500" y="1857375"/>
              <a:chExt cx="3810000" cy="2476500"/>
            </a:xfrm>
          </p:grpSpPr>
          <p:sp>
            <p:nvSpPr>
              <p:cNvPr id="155" name="Google Shape;155;p18"/>
              <p:cNvSpPr/>
              <p:nvPr/>
            </p:nvSpPr>
            <p:spPr>
              <a:xfrm>
                <a:off x="571500" y="1857375"/>
                <a:ext cx="3810000" cy="2476500"/>
              </a:xfrm>
              <a:prstGeom prst="roundRect">
                <a:avLst>
                  <a:gd fmla="val 4615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8"/>
              <p:cNvSpPr txBox="1"/>
              <p:nvPr/>
            </p:nvSpPr>
            <p:spPr>
              <a:xfrm>
                <a:off x="571500" y="1857375"/>
                <a:ext cx="3810000" cy="247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228600" lIns="228600" spcFirstLastPara="1" rIns="228600" wrap="square" tIns="2286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40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Traditional Barriers</a:t>
                </a:r>
                <a:endParaRPr b="1" sz="14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-GB" sz="110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• Lack of Technical Skills:</a:t>
                </a:r>
                <a:r>
                  <a:rPr lang="en-GB" sz="11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 Many students want to explore fashion design but lack the necessary artistic or technical training [cite: 4].</a:t>
                </a:r>
                <a:endParaRPr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1" lang="en-GB" sz="110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• High Entry Barriers:</a:t>
                </a:r>
                <a:r>
                  <a:rPr lang="en-GB" sz="11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 Traditional prototyping and design tools are expensive, slow, and resource-intensive [cite: 4].</a:t>
                </a:r>
                <a:endParaRPr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7" name="Google Shape;157;p18"/>
            <p:cNvGrpSpPr/>
            <p:nvPr/>
          </p:nvGrpSpPr>
          <p:grpSpPr>
            <a:xfrm>
              <a:off x="4667250" y="1857375"/>
              <a:ext cx="3810000" cy="2476500"/>
              <a:chOff x="4667250" y="1857375"/>
              <a:chExt cx="3810000" cy="2476500"/>
            </a:xfrm>
          </p:grpSpPr>
          <p:sp>
            <p:nvSpPr>
              <p:cNvPr id="158" name="Google Shape;158;p18"/>
              <p:cNvSpPr/>
              <p:nvPr/>
            </p:nvSpPr>
            <p:spPr>
              <a:xfrm>
                <a:off x="4667250" y="1857375"/>
                <a:ext cx="3810000" cy="2476500"/>
              </a:xfrm>
              <a:prstGeom prst="roundRect">
                <a:avLst>
                  <a:gd fmla="val 4615" name="adj"/>
                </a:avLst>
              </a:prstGeom>
              <a:solidFill>
                <a:srgbClr val="2C3A41"/>
              </a:solidFill>
              <a:ln cap="flat" cmpd="sng" w="14300">
                <a:solidFill>
                  <a:srgbClr val="1CADE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18"/>
              <p:cNvSpPr txBox="1"/>
              <p:nvPr/>
            </p:nvSpPr>
            <p:spPr>
              <a:xfrm>
                <a:off x="4667250" y="1857375"/>
                <a:ext cx="3810000" cy="247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228600" lIns="228600" spcFirstLastPara="1" rIns="228600" wrap="square" tIns="2286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295">
                    <a:solidFill>
                      <a:srgbClr val="1CADE4"/>
                    </a:solidFill>
                    <a:latin typeface="Arial"/>
                    <a:ea typeface="Arial"/>
                    <a:cs typeface="Arial"/>
                    <a:sym typeface="Arial"/>
                  </a:rPr>
                  <a:t>The AI Opportunity</a:t>
                </a:r>
                <a:endParaRPr b="1" sz="1295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-GB" sz="1018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• Text-to-Design:</a:t>
                </a:r>
                <a:r>
                  <a:rPr lang="en-GB" sz="1018">
                    <a:solidFill>
                      <a:srgbClr val="CBD5E1"/>
                    </a:solidFill>
                    <a:latin typeface="Arial"/>
                    <a:ea typeface="Arial"/>
                    <a:cs typeface="Arial"/>
                    <a:sym typeface="Arial"/>
                  </a:rPr>
                  <a:t> Instantly synthesize unique, customizable clothing designs directly from simple text prompts [cite: 4].</a:t>
                </a:r>
                <a:endParaRPr sz="1018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1" lang="en-GB" sz="1018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• Intelligent Matching:</a:t>
                </a:r>
                <a:r>
                  <a:rPr lang="en-GB" sz="1018">
                    <a:solidFill>
                      <a:srgbClr val="CBD5E1"/>
                    </a:solidFill>
                    <a:latin typeface="Arial"/>
                    <a:ea typeface="Arial"/>
                    <a:cs typeface="Arial"/>
                    <a:sym typeface="Arial"/>
                  </a:rPr>
                  <a:t> Suggest similar, highly affordable products online to connect digital designs with physical retail [cite: 4].</a:t>
                </a:r>
                <a:endParaRPr sz="1018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1" lang="en-GB" sz="1018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• Enhanced Accessibility:</a:t>
                </a:r>
                <a:r>
                  <a:rPr lang="en-GB" sz="1018">
                    <a:solidFill>
                      <a:srgbClr val="CBD5E1"/>
                    </a:solidFill>
                    <a:latin typeface="Arial"/>
                    <a:ea typeface="Arial"/>
                    <a:cs typeface="Arial"/>
                    <a:sym typeface="Arial"/>
                  </a:rPr>
                  <a:t> Empowers aspiring creators by making fashion design deeply interactive, accessible, and fun [cite: 4].</a:t>
                </a:r>
                <a:endParaRPr sz="1018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/>
          <p:nvPr/>
        </p:nvSpPr>
        <p:spPr>
          <a:xfrm>
            <a:off x="438150" y="554850"/>
            <a:ext cx="82677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90">
                <a:solidFill>
                  <a:srgbClr val="1CADE4"/>
                </a:solidFill>
                <a:latin typeface="Arial"/>
                <a:ea typeface="Arial"/>
                <a:cs typeface="Arial"/>
                <a:sym typeface="Arial"/>
              </a:rPr>
              <a:t>SYSTEM ARCHITECTURE</a:t>
            </a:r>
            <a:endParaRPr b="1" sz="2590">
              <a:solidFill>
                <a:srgbClr val="1CADE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5" name="Google Shape;165;p19"/>
          <p:cNvGrpSpPr/>
          <p:nvPr/>
        </p:nvGrpSpPr>
        <p:grpSpPr>
          <a:xfrm>
            <a:off x="1571625" y="1047750"/>
            <a:ext cx="1905000" cy="381000"/>
            <a:chOff x="1571625" y="1047750"/>
            <a:chExt cx="1905000" cy="381000"/>
          </a:xfrm>
        </p:grpSpPr>
        <p:sp>
          <p:nvSpPr>
            <p:cNvPr id="166" name="Google Shape;166;p19"/>
            <p:cNvSpPr/>
            <p:nvPr/>
          </p:nvSpPr>
          <p:spPr>
            <a:xfrm>
              <a:off x="1571625" y="1047750"/>
              <a:ext cx="1905000" cy="381000"/>
            </a:xfrm>
            <a:prstGeom prst="roundRect">
              <a:avLst>
                <a:gd fmla="val 150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9"/>
            <p:cNvSpPr txBox="1"/>
            <p:nvPr/>
          </p:nvSpPr>
          <p:spPr>
            <a:xfrm>
              <a:off x="1571625" y="104775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USER / BROWSER</a:t>
              </a:r>
              <a:endParaRPr b="1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8" name="Google Shape;16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6500" y="1428750"/>
            <a:ext cx="95400" cy="252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9" name="Google Shape;169;p19"/>
          <p:cNvGrpSpPr/>
          <p:nvPr/>
        </p:nvGrpSpPr>
        <p:grpSpPr>
          <a:xfrm>
            <a:off x="1000125" y="1666875"/>
            <a:ext cx="3048000" cy="1047900"/>
            <a:chOff x="1000125" y="1666875"/>
            <a:chExt cx="3048000" cy="1047900"/>
          </a:xfrm>
        </p:grpSpPr>
        <p:sp>
          <p:nvSpPr>
            <p:cNvPr id="170" name="Google Shape;170;p19"/>
            <p:cNvSpPr/>
            <p:nvPr/>
          </p:nvSpPr>
          <p:spPr>
            <a:xfrm>
              <a:off x="1000125" y="1666875"/>
              <a:ext cx="3048000" cy="1047900"/>
            </a:xfrm>
            <a:prstGeom prst="roundRect">
              <a:avLst>
                <a:gd fmla="val 7272" name="adj"/>
              </a:avLst>
            </a:prstGeom>
            <a:solidFill>
              <a:srgbClr val="2C3A41"/>
            </a:solidFill>
            <a:ln cap="flat" cmpd="sng" w="19050">
              <a:solidFill>
                <a:srgbClr val="1CAD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9"/>
            <p:cNvSpPr txBox="1"/>
            <p:nvPr/>
          </p:nvSpPr>
          <p:spPr>
            <a:xfrm>
              <a:off x="1000125" y="1666875"/>
              <a:ext cx="3048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4300" lIns="114300" spcFirstLastPara="1" rIns="114300" wrap="square" tIns="1143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VERCEL PLATFORM</a:t>
              </a:r>
              <a:endParaRPr b="1" sz="1100">
                <a:solidFill>
                  <a:srgbClr val="1CADE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• React + Vite Frontend</a:t>
              </a:r>
              <a:endPara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HTTP / API Calls (Serverless)</a:t>
              </a:r>
              <a:endParaRPr sz="9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150"/>
                </a:spcAft>
                <a:buNone/>
              </a:pPr>
              <a:r>
                <a:rPr b="1" lang="en-GB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• Python Serverless APIs</a:t>
              </a:r>
              <a:endPara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2" name="Google Shape;172;p19"/>
          <p:cNvGrpSpPr/>
          <p:nvPr/>
        </p:nvGrpSpPr>
        <p:grpSpPr>
          <a:xfrm>
            <a:off x="1004888" y="2714625"/>
            <a:ext cx="3038513" cy="442800"/>
            <a:chOff x="1004888" y="2714625"/>
            <a:chExt cx="3038513" cy="442800"/>
          </a:xfrm>
        </p:grpSpPr>
        <p:pic>
          <p:nvPicPr>
            <p:cNvPr id="173" name="Google Shape;173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04888" y="2714625"/>
              <a:ext cx="1528800" cy="44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" name="Google Shape;174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81263" y="2714625"/>
              <a:ext cx="85800" cy="44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" name="Google Shape;175;p1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514600" y="2714625"/>
              <a:ext cx="1528800" cy="442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6" name="Google Shape;176;p19"/>
          <p:cNvGrpSpPr/>
          <p:nvPr/>
        </p:nvGrpSpPr>
        <p:grpSpPr>
          <a:xfrm>
            <a:off x="400050" y="3143250"/>
            <a:ext cx="1285800" cy="952500"/>
            <a:chOff x="400050" y="3143250"/>
            <a:chExt cx="1285800" cy="952500"/>
          </a:xfrm>
        </p:grpSpPr>
        <p:sp>
          <p:nvSpPr>
            <p:cNvPr id="177" name="Google Shape;177;p19"/>
            <p:cNvSpPr/>
            <p:nvPr/>
          </p:nvSpPr>
          <p:spPr>
            <a:xfrm>
              <a:off x="400050" y="3143250"/>
              <a:ext cx="1285800" cy="952500"/>
            </a:xfrm>
            <a:prstGeom prst="roundRect">
              <a:avLst>
                <a:gd fmla="val 60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9"/>
            <p:cNvSpPr txBox="1"/>
            <p:nvPr/>
          </p:nvSpPr>
          <p:spPr>
            <a:xfrm>
              <a:off x="400050" y="3143250"/>
              <a:ext cx="12858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250" lIns="95250" spcFirstLastPara="1" rIns="9525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Cloudflare AI</a:t>
              </a:r>
              <a:endParaRPr b="1" sz="1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FLUX / SDXL</a:t>
              </a:r>
              <a:endParaRPr b="1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GB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Design Gen.</a:t>
              </a:r>
              <a:endParaRPr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9" name="Google Shape;179;p19"/>
          <p:cNvGrpSpPr/>
          <p:nvPr/>
        </p:nvGrpSpPr>
        <p:grpSpPr>
          <a:xfrm>
            <a:off x="1876425" y="3143250"/>
            <a:ext cx="1285800" cy="952500"/>
            <a:chOff x="1876425" y="3143250"/>
            <a:chExt cx="1285800" cy="952500"/>
          </a:xfrm>
        </p:grpSpPr>
        <p:sp>
          <p:nvSpPr>
            <p:cNvPr id="180" name="Google Shape;180;p19"/>
            <p:cNvSpPr/>
            <p:nvPr/>
          </p:nvSpPr>
          <p:spPr>
            <a:xfrm>
              <a:off x="1876425" y="3143250"/>
              <a:ext cx="1285800" cy="952500"/>
            </a:xfrm>
            <a:prstGeom prst="roundRect">
              <a:avLst>
                <a:gd fmla="val 60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9"/>
            <p:cNvSpPr txBox="1"/>
            <p:nvPr/>
          </p:nvSpPr>
          <p:spPr>
            <a:xfrm>
              <a:off x="1876425" y="3143250"/>
              <a:ext cx="12858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250" lIns="95250" spcFirstLastPara="1" rIns="9525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RapidAPI H&amp;M</a:t>
              </a:r>
              <a:endParaRPr b="1" sz="1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Products API</a:t>
              </a:r>
              <a:endParaRPr b="1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GB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Recommendation</a:t>
              </a:r>
              <a:endParaRPr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2" name="Google Shape;182;p19"/>
          <p:cNvGrpSpPr/>
          <p:nvPr/>
        </p:nvGrpSpPr>
        <p:grpSpPr>
          <a:xfrm>
            <a:off x="3352800" y="3143250"/>
            <a:ext cx="1285800" cy="952500"/>
            <a:chOff x="3352800" y="3143250"/>
            <a:chExt cx="1285800" cy="952500"/>
          </a:xfrm>
        </p:grpSpPr>
        <p:sp>
          <p:nvSpPr>
            <p:cNvPr id="183" name="Google Shape;183;p19"/>
            <p:cNvSpPr/>
            <p:nvPr/>
          </p:nvSpPr>
          <p:spPr>
            <a:xfrm>
              <a:off x="3352800" y="3143250"/>
              <a:ext cx="1285800" cy="952500"/>
            </a:xfrm>
            <a:prstGeom prst="roundRect">
              <a:avLst>
                <a:gd fmla="val 60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9"/>
            <p:cNvSpPr txBox="1"/>
            <p:nvPr/>
          </p:nvSpPr>
          <p:spPr>
            <a:xfrm>
              <a:off x="3352800" y="3143250"/>
              <a:ext cx="12858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5250" lIns="95250" spcFirstLastPara="1" rIns="9525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Hugging Face</a:t>
              </a:r>
              <a:endParaRPr b="1" sz="1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IDM-VTON</a:t>
              </a:r>
              <a:endParaRPr b="1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GB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Virtual Try-On</a:t>
              </a:r>
              <a:endParaRPr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5" name="Google Shape;185;p19"/>
          <p:cNvGrpSpPr/>
          <p:nvPr/>
        </p:nvGrpSpPr>
        <p:grpSpPr>
          <a:xfrm>
            <a:off x="4857750" y="1047750"/>
            <a:ext cx="3857700" cy="1809600"/>
            <a:chOff x="4857750" y="1047750"/>
            <a:chExt cx="3857700" cy="1809600"/>
          </a:xfrm>
        </p:grpSpPr>
        <p:sp>
          <p:nvSpPr>
            <p:cNvPr id="186" name="Google Shape;186;p19"/>
            <p:cNvSpPr/>
            <p:nvPr/>
          </p:nvSpPr>
          <p:spPr>
            <a:xfrm>
              <a:off x="4857750" y="1047750"/>
              <a:ext cx="3857700" cy="1809600"/>
            </a:xfrm>
            <a:prstGeom prst="roundRect">
              <a:avLst>
                <a:gd fmla="val 421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9"/>
            <p:cNvSpPr txBox="1"/>
            <p:nvPr/>
          </p:nvSpPr>
          <p:spPr>
            <a:xfrm>
              <a:off x="4857750" y="1047750"/>
              <a:ext cx="38577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API Routes</a:t>
              </a:r>
              <a:endParaRPr b="1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GB" sz="950">
                  <a:solidFill>
                    <a:srgbClr val="18803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/api/design</a:t>
              </a:r>
              <a:r>
                <a:rPr lang="en-GB"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GB" sz="9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Cloudflare Workers AI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50">
                  <a:solidFill>
                    <a:srgbClr val="18803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/api/products/search</a:t>
              </a:r>
              <a:r>
                <a:rPr lang="en-GB"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GB" sz="9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RapidAPI H&amp;M Store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50">
                  <a:solidFill>
                    <a:srgbClr val="18803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/api/try-on</a:t>
              </a:r>
              <a:r>
                <a:rPr lang="en-GB"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GB" sz="9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Hugging Face IDM-VTON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50">
                  <a:solidFill>
                    <a:srgbClr val="18803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/api/health</a:t>
              </a:r>
              <a:r>
                <a:rPr lang="en-GB"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GB" sz="9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Service health check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8" name="Google Shape;188;p19"/>
          <p:cNvGrpSpPr/>
          <p:nvPr/>
        </p:nvGrpSpPr>
        <p:grpSpPr>
          <a:xfrm>
            <a:off x="4857750" y="2952750"/>
            <a:ext cx="3857700" cy="1143000"/>
            <a:chOff x="4857750" y="2952750"/>
            <a:chExt cx="3857700" cy="1143000"/>
          </a:xfrm>
        </p:grpSpPr>
        <p:sp>
          <p:nvSpPr>
            <p:cNvPr id="189" name="Google Shape;189;p19"/>
            <p:cNvSpPr/>
            <p:nvPr/>
          </p:nvSpPr>
          <p:spPr>
            <a:xfrm>
              <a:off x="4857750" y="2952750"/>
              <a:ext cx="3857700" cy="1143000"/>
            </a:xfrm>
            <a:prstGeom prst="roundRect">
              <a:avLst>
                <a:gd fmla="val 6666" name="adj"/>
              </a:avLst>
            </a:prstGeom>
            <a:solidFill>
              <a:srgbClr val="2C3A4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9"/>
            <p:cNvSpPr txBox="1"/>
            <p:nvPr/>
          </p:nvSpPr>
          <p:spPr>
            <a:xfrm>
              <a:off x="4857750" y="2952750"/>
              <a:ext cx="38577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Key Architecture Benefit</a:t>
              </a:r>
              <a:endParaRPr b="1" sz="1100">
                <a:solidFill>
                  <a:srgbClr val="1CADE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Single Vercel deployment handles both the React frontend and Python serverless API layer, while external AI services are securely accessed through server-side APIs.</a:t>
              </a:r>
              <a:endParaRPr b="0" sz="95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1" name="Google Shape;191;p19"/>
          <p:cNvGrpSpPr/>
          <p:nvPr/>
        </p:nvGrpSpPr>
        <p:grpSpPr>
          <a:xfrm>
            <a:off x="419100" y="4238625"/>
            <a:ext cx="8305800" cy="304800"/>
            <a:chOff x="419100" y="4238625"/>
            <a:chExt cx="8305800" cy="304800"/>
          </a:xfrm>
        </p:grpSpPr>
        <p:sp>
          <p:nvSpPr>
            <p:cNvPr id="192" name="Google Shape;192;p19"/>
            <p:cNvSpPr/>
            <p:nvPr/>
          </p:nvSpPr>
          <p:spPr>
            <a:xfrm>
              <a:off x="419100" y="4238625"/>
              <a:ext cx="8305800" cy="304800"/>
            </a:xfrm>
            <a:prstGeom prst="roundRect">
              <a:avLst>
                <a:gd fmla="val 18750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9"/>
            <p:cNvSpPr txBox="1"/>
            <p:nvPr/>
          </p:nvSpPr>
          <p:spPr>
            <a:xfrm>
              <a:off x="419100" y="4238625"/>
              <a:ext cx="8305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18803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Secrets remain server-side • Serverless • Scalable • No separate backend deployment</a:t>
              </a:r>
              <a:endParaRPr b="1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"/>
          <p:cNvSpPr txBox="1"/>
          <p:nvPr>
            <p:ph type="title"/>
          </p:nvPr>
        </p:nvSpPr>
        <p:spPr>
          <a:xfrm>
            <a:off x="438150" y="552450"/>
            <a:ext cx="82677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590">
                <a:solidFill>
                  <a:srgbClr val="1CADE4"/>
                </a:solidFill>
                <a:latin typeface="Arial"/>
                <a:ea typeface="Arial"/>
                <a:cs typeface="Arial"/>
                <a:sym typeface="Arial"/>
              </a:rPr>
              <a:t>KEY FEATURES / MODULES</a:t>
            </a:r>
            <a:endParaRPr b="1" i="0" sz="2590">
              <a:solidFill>
                <a:srgbClr val="1CADE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9" name="Google Shape;199;p20"/>
          <p:cNvGrpSpPr/>
          <p:nvPr/>
        </p:nvGrpSpPr>
        <p:grpSpPr>
          <a:xfrm>
            <a:off x="476250" y="1238250"/>
            <a:ext cx="8191500" cy="3238500"/>
            <a:chOff x="476250" y="1238250"/>
            <a:chExt cx="8191500" cy="3238500"/>
          </a:xfrm>
        </p:grpSpPr>
        <p:sp>
          <p:nvSpPr>
            <p:cNvPr id="200" name="Google Shape;200;p20"/>
            <p:cNvSpPr/>
            <p:nvPr/>
          </p:nvSpPr>
          <p:spPr>
            <a:xfrm>
              <a:off x="476250" y="1238250"/>
              <a:ext cx="1905000" cy="1524000"/>
            </a:xfrm>
            <a:prstGeom prst="roundRect">
              <a:avLst>
                <a:gd fmla="val 50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0"/>
            <p:cNvSpPr txBox="1"/>
            <p:nvPr/>
          </p:nvSpPr>
          <p:spPr>
            <a:xfrm>
              <a:off x="476250" y="1238250"/>
              <a:ext cx="1905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1CADE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brush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AI Fashion Studio</a:t>
              </a:r>
              <a:endParaRPr b="1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Create fashion designs from natural-language prompts.</a:t>
              </a:r>
              <a:endParaRPr b="0"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20"/>
            <p:cNvSpPr/>
            <p:nvPr/>
          </p:nvSpPr>
          <p:spPr>
            <a:xfrm>
              <a:off x="2571750" y="1238250"/>
              <a:ext cx="1905000" cy="1524000"/>
            </a:xfrm>
            <a:prstGeom prst="roundRect">
              <a:avLst>
                <a:gd fmla="val 50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0"/>
            <p:cNvSpPr txBox="1"/>
            <p:nvPr/>
          </p:nvSpPr>
          <p:spPr>
            <a:xfrm>
              <a:off x="2571750" y="1238250"/>
              <a:ext cx="1905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1CADE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Fashion Spec</a:t>
              </a:r>
              <a:endParaRPr b="1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Extract structured attributes like fabric, fit, and budget.</a:t>
              </a:r>
              <a:endParaRPr b="0"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20"/>
            <p:cNvSpPr/>
            <p:nvPr/>
          </p:nvSpPr>
          <p:spPr>
            <a:xfrm>
              <a:off x="4667250" y="1238250"/>
              <a:ext cx="1905000" cy="1524000"/>
            </a:xfrm>
            <a:prstGeom prst="roundRect">
              <a:avLst>
                <a:gd fmla="val 50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0"/>
            <p:cNvSpPr txBox="1"/>
            <p:nvPr/>
          </p:nvSpPr>
          <p:spPr>
            <a:xfrm>
              <a:off x="4667250" y="1238250"/>
              <a:ext cx="1905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1CADE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image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Image Generation</a:t>
              </a:r>
              <a:endParaRPr b="1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Generate fashion concepts using multiple AI models.</a:t>
              </a:r>
              <a:endParaRPr b="0"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20"/>
            <p:cNvSpPr/>
            <p:nvPr/>
          </p:nvSpPr>
          <p:spPr>
            <a:xfrm>
              <a:off x="6762750" y="1238250"/>
              <a:ext cx="1905000" cy="1524000"/>
            </a:xfrm>
            <a:prstGeom prst="roundRect">
              <a:avLst>
                <a:gd fmla="val 50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0"/>
            <p:cNvSpPr txBox="1"/>
            <p:nvPr/>
          </p:nvSpPr>
          <p:spPr>
            <a:xfrm>
              <a:off x="6762750" y="1238250"/>
              <a:ext cx="1905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1CADE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local_mall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Product Match</a:t>
              </a:r>
              <a:endParaRPr b="1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Find matching real products through the H&amp;M API.</a:t>
              </a:r>
              <a:endParaRPr b="0"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20"/>
            <p:cNvSpPr/>
            <p:nvPr/>
          </p:nvSpPr>
          <p:spPr>
            <a:xfrm>
              <a:off x="476250" y="2952750"/>
              <a:ext cx="1905000" cy="1524000"/>
            </a:xfrm>
            <a:prstGeom prst="roundRect">
              <a:avLst>
                <a:gd fmla="val 50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0"/>
            <p:cNvSpPr txBox="1"/>
            <p:nvPr/>
          </p:nvSpPr>
          <p:spPr>
            <a:xfrm>
              <a:off x="476250" y="2952750"/>
              <a:ext cx="1905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1CADE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checkroom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Virtual Try-On</a:t>
              </a:r>
              <a:endParaRPr b="1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Generate interactive AI try-on results using IDM-VTON.</a:t>
              </a:r>
              <a:endParaRPr b="0"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0"/>
            <p:cNvSpPr/>
            <p:nvPr/>
          </p:nvSpPr>
          <p:spPr>
            <a:xfrm>
              <a:off x="2571750" y="2952750"/>
              <a:ext cx="1905000" cy="1524000"/>
            </a:xfrm>
            <a:prstGeom prst="roundRect">
              <a:avLst>
                <a:gd fmla="val 50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0"/>
            <p:cNvSpPr txBox="1"/>
            <p:nvPr/>
          </p:nvSpPr>
          <p:spPr>
            <a:xfrm>
              <a:off x="2571750" y="2952750"/>
              <a:ext cx="1905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1CADE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folder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Collections</a:t>
              </a:r>
              <a:endParaRPr b="1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Save and manage your generated fashion designs.</a:t>
              </a:r>
              <a:endParaRPr b="0"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0"/>
            <p:cNvSpPr/>
            <p:nvPr/>
          </p:nvSpPr>
          <p:spPr>
            <a:xfrm>
              <a:off x="4667250" y="2952750"/>
              <a:ext cx="1905000" cy="1524000"/>
            </a:xfrm>
            <a:prstGeom prst="roundRect">
              <a:avLst>
                <a:gd fmla="val 50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0"/>
            <p:cNvSpPr txBox="1"/>
            <p:nvPr/>
          </p:nvSpPr>
          <p:spPr>
            <a:xfrm>
              <a:off x="4667250" y="2952750"/>
              <a:ext cx="1905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1CADE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assignment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Tech Pack</a:t>
              </a:r>
              <a:endParaRPr b="1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Generate structured technical fashion specifications.</a:t>
              </a:r>
              <a:endParaRPr b="0"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0"/>
            <p:cNvSpPr/>
            <p:nvPr/>
          </p:nvSpPr>
          <p:spPr>
            <a:xfrm>
              <a:off x="6762750" y="2952750"/>
              <a:ext cx="1905000" cy="1524000"/>
            </a:xfrm>
            <a:prstGeom prst="roundRect">
              <a:avLst>
                <a:gd fmla="val 5000" name="adj"/>
              </a:avLst>
            </a:prstGeom>
            <a:solidFill>
              <a:srgbClr val="2C3A41"/>
            </a:solidFill>
            <a:ln cap="flat" cmpd="sng" w="14300">
              <a:solidFill>
                <a:srgbClr val="1CAD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0"/>
            <p:cNvSpPr txBox="1"/>
            <p:nvPr/>
          </p:nvSpPr>
          <p:spPr>
            <a:xfrm>
              <a:off x="6762750" y="2952750"/>
              <a:ext cx="1905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1CADE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download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Utilities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Download designs and copy specifications instantly.</a:t>
              </a:r>
              <a:endParaRPr b="0" sz="95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1"/>
          <p:cNvSpPr txBox="1"/>
          <p:nvPr>
            <p:ph type="title"/>
          </p:nvPr>
        </p:nvSpPr>
        <p:spPr>
          <a:xfrm>
            <a:off x="435894" y="650017"/>
            <a:ext cx="82722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b="1" lang="en-GB" sz="3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PROPOSED SOLUTION</a:t>
            </a:r>
            <a:endParaRPr sz="3300"/>
          </a:p>
        </p:txBody>
      </p:sp>
      <p:sp>
        <p:nvSpPr>
          <p:cNvPr id="221" name="Google Shape;221;p21"/>
          <p:cNvSpPr txBox="1"/>
          <p:nvPr/>
        </p:nvSpPr>
        <p:spPr>
          <a:xfrm>
            <a:off x="495300" y="1047750"/>
            <a:ext cx="8153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Unified AI Fashion Workflow</a:t>
            </a:r>
            <a:endParaRPr b="1" sz="15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2" name="Google Shape;222;p21"/>
          <p:cNvGrpSpPr/>
          <p:nvPr/>
        </p:nvGrpSpPr>
        <p:grpSpPr>
          <a:xfrm>
            <a:off x="495300" y="1524000"/>
            <a:ext cx="8305800" cy="1809600"/>
            <a:chOff x="495300" y="1524000"/>
            <a:chExt cx="8305800" cy="1809600"/>
          </a:xfrm>
        </p:grpSpPr>
        <p:sp>
          <p:nvSpPr>
            <p:cNvPr id="223" name="Google Shape;223;p21"/>
            <p:cNvSpPr/>
            <p:nvPr/>
          </p:nvSpPr>
          <p:spPr>
            <a:xfrm>
              <a:off x="495300" y="1524000"/>
              <a:ext cx="1257300" cy="1809600"/>
            </a:xfrm>
            <a:prstGeom prst="roundRect">
              <a:avLst>
                <a:gd fmla="val 7575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1"/>
            <p:cNvSpPr txBox="1"/>
            <p:nvPr/>
          </p:nvSpPr>
          <p:spPr>
            <a:xfrm>
              <a:off x="495300" y="1524000"/>
              <a:ext cx="12573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1CAD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01</a:t>
              </a:r>
              <a:endParaRPr b="1" sz="1600">
                <a:solidFill>
                  <a:srgbClr val="1CADE4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User Fashion Idea</a:t>
              </a:r>
              <a:endParaRPr b="1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Initial creative concept or design inspiration.</a:t>
              </a:r>
              <a:endParaRPr b="0"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21"/>
            <p:cNvSpPr txBox="1"/>
            <p:nvPr/>
          </p:nvSpPr>
          <p:spPr>
            <a:xfrm>
              <a:off x="1752600" y="2286000"/>
              <a:ext cx="152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1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➔</a:t>
              </a:r>
              <a:endParaRPr b="1" sz="1110">
                <a:solidFill>
                  <a:srgbClr val="1CADE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21"/>
            <p:cNvSpPr/>
            <p:nvPr/>
          </p:nvSpPr>
          <p:spPr>
            <a:xfrm>
              <a:off x="1905000" y="1524000"/>
              <a:ext cx="1257300" cy="1809600"/>
            </a:xfrm>
            <a:prstGeom prst="roundRect">
              <a:avLst>
                <a:gd fmla="val 7575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1"/>
            <p:cNvSpPr txBox="1"/>
            <p:nvPr/>
          </p:nvSpPr>
          <p:spPr>
            <a:xfrm>
              <a:off x="1905000" y="1524000"/>
              <a:ext cx="12573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1CAD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02</a:t>
              </a:r>
              <a:endParaRPr b="1" sz="1600">
                <a:solidFill>
                  <a:srgbClr val="1CADE4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Specification Extraction</a:t>
              </a:r>
              <a:endParaRPr b="1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Gemini extracts key features and attributes.</a:t>
              </a:r>
              <a:endParaRPr b="0"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21"/>
            <p:cNvSpPr txBox="1"/>
            <p:nvPr/>
          </p:nvSpPr>
          <p:spPr>
            <a:xfrm>
              <a:off x="3162300" y="2286000"/>
              <a:ext cx="152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1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➔</a:t>
              </a:r>
              <a:endParaRPr b="1" sz="1110">
                <a:solidFill>
                  <a:srgbClr val="1CADE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21"/>
            <p:cNvSpPr/>
            <p:nvPr/>
          </p:nvSpPr>
          <p:spPr>
            <a:xfrm>
              <a:off x="3314700" y="1524000"/>
              <a:ext cx="1257300" cy="1809600"/>
            </a:xfrm>
            <a:prstGeom prst="roundRect">
              <a:avLst>
                <a:gd fmla="val 7575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21"/>
            <p:cNvSpPr txBox="1"/>
            <p:nvPr/>
          </p:nvSpPr>
          <p:spPr>
            <a:xfrm>
              <a:off x="3314700" y="1524000"/>
              <a:ext cx="12573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1CAD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03</a:t>
              </a:r>
              <a:endParaRPr b="1" sz="1600">
                <a:solidFill>
                  <a:srgbClr val="1CADE4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Image Generation</a:t>
              </a:r>
              <a:endParaRPr b="1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Generates high-fidelity fashion visuals.</a:t>
              </a:r>
              <a:endParaRPr b="0"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21"/>
            <p:cNvSpPr txBox="1"/>
            <p:nvPr/>
          </p:nvSpPr>
          <p:spPr>
            <a:xfrm>
              <a:off x="4572000" y="2286000"/>
              <a:ext cx="152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1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➔</a:t>
              </a:r>
              <a:endParaRPr b="1" sz="1110">
                <a:solidFill>
                  <a:srgbClr val="1CADE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21"/>
            <p:cNvSpPr/>
            <p:nvPr/>
          </p:nvSpPr>
          <p:spPr>
            <a:xfrm>
              <a:off x="4724400" y="1524000"/>
              <a:ext cx="1257300" cy="1809600"/>
            </a:xfrm>
            <a:prstGeom prst="roundRect">
              <a:avLst>
                <a:gd fmla="val 7575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21"/>
            <p:cNvSpPr txBox="1"/>
            <p:nvPr/>
          </p:nvSpPr>
          <p:spPr>
            <a:xfrm>
              <a:off x="4724400" y="1524000"/>
              <a:ext cx="12573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1CAD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04</a:t>
              </a:r>
              <a:endParaRPr b="1" sz="1600">
                <a:solidFill>
                  <a:srgbClr val="1CADE4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Product Match</a:t>
              </a:r>
              <a:endParaRPr b="1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Recommends real, matching inventory.</a:t>
              </a:r>
              <a:endParaRPr b="0"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21"/>
            <p:cNvSpPr txBox="1"/>
            <p:nvPr/>
          </p:nvSpPr>
          <p:spPr>
            <a:xfrm>
              <a:off x="5981700" y="2286000"/>
              <a:ext cx="152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1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➔</a:t>
              </a:r>
              <a:endParaRPr b="1" sz="1110">
                <a:solidFill>
                  <a:srgbClr val="1CADE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21"/>
            <p:cNvSpPr/>
            <p:nvPr/>
          </p:nvSpPr>
          <p:spPr>
            <a:xfrm>
              <a:off x="6134100" y="1524000"/>
              <a:ext cx="1257300" cy="1809600"/>
            </a:xfrm>
            <a:prstGeom prst="roundRect">
              <a:avLst>
                <a:gd fmla="val 7575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1"/>
            <p:cNvSpPr txBox="1"/>
            <p:nvPr/>
          </p:nvSpPr>
          <p:spPr>
            <a:xfrm>
              <a:off x="6134100" y="1524000"/>
              <a:ext cx="12573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1CAD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05</a:t>
              </a:r>
              <a:endParaRPr b="1" sz="1600">
                <a:solidFill>
                  <a:srgbClr val="1CADE4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AI Virtual Try-On</a:t>
              </a:r>
              <a:endParaRPr b="1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Allows users to try garments virtually.</a:t>
              </a:r>
              <a:endParaRPr b="0"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21"/>
            <p:cNvSpPr txBox="1"/>
            <p:nvPr/>
          </p:nvSpPr>
          <p:spPr>
            <a:xfrm>
              <a:off x="7391400" y="2286000"/>
              <a:ext cx="152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1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➔</a:t>
              </a:r>
              <a:endParaRPr b="1" sz="1110">
                <a:solidFill>
                  <a:srgbClr val="1CADE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21"/>
            <p:cNvSpPr/>
            <p:nvPr/>
          </p:nvSpPr>
          <p:spPr>
            <a:xfrm>
              <a:off x="7543800" y="1524000"/>
              <a:ext cx="1257300" cy="1809600"/>
            </a:xfrm>
            <a:prstGeom prst="roundRect">
              <a:avLst>
                <a:gd fmla="val 7575" name="adj"/>
              </a:avLst>
            </a:prstGeom>
            <a:solidFill>
              <a:srgbClr val="2C3A41"/>
            </a:solidFill>
            <a:ln cap="flat" cmpd="sng" w="14300">
              <a:solidFill>
                <a:srgbClr val="1CAD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1"/>
            <p:cNvSpPr txBox="1"/>
            <p:nvPr/>
          </p:nvSpPr>
          <p:spPr>
            <a:xfrm>
              <a:off x="7543800" y="1524000"/>
              <a:ext cx="12573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1CAD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06</a:t>
              </a:r>
              <a:endParaRPr b="1" sz="1600">
                <a:solidFill>
                  <a:srgbClr val="1CADE4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Tech Pack &amp; Co.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GB" sz="950">
                  <a:solidFill>
                    <a:srgbClr val="CBD5E1"/>
                  </a:solidFill>
                  <a:latin typeface="Arial"/>
                  <a:ea typeface="Arial"/>
                  <a:cs typeface="Arial"/>
                  <a:sym typeface="Arial"/>
                </a:rPr>
                <a:t>Exports final collections &amp; tech sheets.</a:t>
              </a:r>
              <a:endParaRPr b="0" sz="95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0" name="Google Shape;240;p21"/>
          <p:cNvGrpSpPr/>
          <p:nvPr/>
        </p:nvGrpSpPr>
        <p:grpSpPr>
          <a:xfrm>
            <a:off x="495300" y="3619500"/>
            <a:ext cx="8305800" cy="666900"/>
            <a:chOff x="495300" y="3619500"/>
            <a:chExt cx="8305800" cy="666900"/>
          </a:xfrm>
        </p:grpSpPr>
        <p:sp>
          <p:nvSpPr>
            <p:cNvPr id="241" name="Google Shape;241;p21"/>
            <p:cNvSpPr/>
            <p:nvPr/>
          </p:nvSpPr>
          <p:spPr>
            <a:xfrm>
              <a:off x="495300" y="3619500"/>
              <a:ext cx="8305800" cy="666900"/>
            </a:xfrm>
            <a:prstGeom prst="roundRect">
              <a:avLst>
                <a:gd fmla="val 11428" name="adj"/>
              </a:avLst>
            </a:prstGeom>
            <a:solidFill>
              <a:srgbClr val="2C3A4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1"/>
            <p:cNvSpPr txBox="1"/>
            <p:nvPr/>
          </p:nvSpPr>
          <p:spPr>
            <a:xfrm>
              <a:off x="685800" y="3619500"/>
              <a:ext cx="79248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1CADE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</a:t>
              </a:r>
              <a:r>
                <a:rPr lang="en-GB" sz="2000">
                  <a:solidFill>
                    <a:srgbClr val="1CADE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uto_awesome</a:t>
              </a:r>
              <a:r>
                <a:rPr b="1" lang="en-GB" sz="12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unified end-to-end fashion ideation and visualization platform powered by Generative AI.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2"/>
          <p:cNvSpPr txBox="1"/>
          <p:nvPr>
            <p:ph type="title"/>
          </p:nvPr>
        </p:nvSpPr>
        <p:spPr>
          <a:xfrm>
            <a:off x="435894" y="496929"/>
            <a:ext cx="8272200" cy="39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0" lIns="3810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600">
                <a:solidFill>
                  <a:srgbClr val="1CADE4"/>
                </a:solidFill>
                <a:latin typeface="Arial"/>
                <a:ea typeface="Arial"/>
                <a:cs typeface="Arial"/>
                <a:sym typeface="Arial"/>
              </a:rPr>
              <a:t>System Development — Technology Used</a:t>
            </a:r>
            <a:endParaRPr b="1" i="0" sz="2600">
              <a:solidFill>
                <a:srgbClr val="1CADE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8" name="Google Shape;248;p22"/>
          <p:cNvGrpSpPr/>
          <p:nvPr/>
        </p:nvGrpSpPr>
        <p:grpSpPr>
          <a:xfrm>
            <a:off x="476250" y="1238250"/>
            <a:ext cx="8191500" cy="2667000"/>
            <a:chOff x="476250" y="1238250"/>
            <a:chExt cx="8191500" cy="2667000"/>
          </a:xfrm>
        </p:grpSpPr>
        <p:sp>
          <p:nvSpPr>
            <p:cNvPr id="249" name="Google Shape;249;p22"/>
            <p:cNvSpPr/>
            <p:nvPr/>
          </p:nvSpPr>
          <p:spPr>
            <a:xfrm>
              <a:off x="476250" y="1238250"/>
              <a:ext cx="1905000" cy="2667000"/>
            </a:xfrm>
            <a:prstGeom prst="roundRect">
              <a:avLst>
                <a:gd fmla="val 40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2"/>
            <p:cNvSpPr txBox="1"/>
            <p:nvPr/>
          </p:nvSpPr>
          <p:spPr>
            <a:xfrm>
              <a:off x="476250" y="1238250"/>
              <a:ext cx="1905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1CADE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code</a:t>
              </a:r>
              <a:endParaRPr sz="2000">
                <a:solidFill>
                  <a:srgbClr val="1CADE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Frontend</a:t>
              </a:r>
              <a:endParaRPr b="1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Arial"/>
                <a:buChar char="●"/>
              </a:pPr>
              <a:r>
                <a:rPr b="0" lang="en-GB"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React 19</a:t>
              </a:r>
              <a:endParaRPr b="0" sz="10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Arial"/>
                <a:buChar char="●"/>
              </a:pPr>
              <a:r>
                <a:rPr b="0" lang="en-GB"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Vite 8</a:t>
              </a:r>
              <a:endParaRPr b="0" sz="10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Arial"/>
                <a:buChar char="●"/>
              </a:pPr>
              <a:r>
                <a:rPr b="0" lang="en-GB"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Tailwind CSS 4</a:t>
              </a:r>
              <a:endParaRPr b="0" sz="10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450"/>
                </a:spcAft>
                <a:buClr>
                  <a:srgbClr val="475569"/>
                </a:buClr>
                <a:buSzPts val="1050"/>
                <a:buFont typeface="Arial"/>
                <a:buChar char="●"/>
              </a:pPr>
              <a:r>
                <a:rPr b="0" lang="en-GB"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Lucide React</a:t>
              </a:r>
              <a:endParaRPr b="0" sz="10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22"/>
            <p:cNvSpPr/>
            <p:nvPr/>
          </p:nvSpPr>
          <p:spPr>
            <a:xfrm>
              <a:off x="2571750" y="1238250"/>
              <a:ext cx="1905000" cy="2667000"/>
            </a:xfrm>
            <a:prstGeom prst="roundRect">
              <a:avLst>
                <a:gd fmla="val 40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2"/>
            <p:cNvSpPr txBox="1"/>
            <p:nvPr/>
          </p:nvSpPr>
          <p:spPr>
            <a:xfrm>
              <a:off x="2571750" y="1238250"/>
              <a:ext cx="1905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1CADE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dns</a:t>
              </a:r>
              <a:endParaRPr sz="2000">
                <a:solidFill>
                  <a:srgbClr val="1CADE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Backend / API</a:t>
              </a:r>
              <a:endParaRPr b="1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Arial"/>
                <a:buChar char="●"/>
              </a:pPr>
              <a:r>
                <a:rPr b="0" lang="en-GB"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Python</a:t>
              </a:r>
              <a:endParaRPr b="0" sz="10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Arial"/>
                <a:buChar char="●"/>
              </a:pPr>
              <a:r>
                <a:rPr b="0" lang="en-GB"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Vercel Serverless</a:t>
              </a:r>
              <a:endParaRPr b="0" sz="10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Arial"/>
                <a:buChar char="●"/>
              </a:pPr>
              <a:r>
                <a:rPr b="0" lang="en-GB"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Pydantic</a:t>
              </a:r>
              <a:endParaRPr b="0" sz="10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450"/>
                </a:spcAft>
                <a:buClr>
                  <a:srgbClr val="475569"/>
                </a:buClr>
                <a:buSzPts val="1050"/>
                <a:buFont typeface="Arial"/>
                <a:buChar char="●"/>
              </a:pPr>
              <a:r>
                <a:rPr b="0" lang="en-GB"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HTTPX</a:t>
              </a:r>
              <a:endParaRPr b="0" sz="10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22"/>
            <p:cNvSpPr/>
            <p:nvPr/>
          </p:nvSpPr>
          <p:spPr>
            <a:xfrm>
              <a:off x="4667250" y="1238250"/>
              <a:ext cx="1905000" cy="2667000"/>
            </a:xfrm>
            <a:prstGeom prst="roundRect">
              <a:avLst>
                <a:gd fmla="val 40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2"/>
            <p:cNvSpPr txBox="1"/>
            <p:nvPr/>
          </p:nvSpPr>
          <p:spPr>
            <a:xfrm>
              <a:off x="4667250" y="1238250"/>
              <a:ext cx="1905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1CADE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2000">
                <a:solidFill>
                  <a:srgbClr val="1CADE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Artificial Intelligence</a:t>
              </a:r>
              <a:endParaRPr b="1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Arial"/>
                <a:buChar char="●"/>
              </a:pPr>
              <a:r>
                <a:rPr b="0" lang="en-GB"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Gemini 2.5 Flash</a:t>
              </a:r>
              <a:endParaRPr b="0" sz="10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Arial"/>
                <a:buChar char="●"/>
              </a:pPr>
              <a:r>
                <a:rPr b="0" lang="en-GB"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Cloudflare AI</a:t>
              </a:r>
              <a:endParaRPr b="0" sz="10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450"/>
                </a:spcAft>
                <a:buClr>
                  <a:srgbClr val="475569"/>
                </a:buClr>
                <a:buSzPts val="1050"/>
                <a:buFont typeface="Arial"/>
                <a:buChar char="●"/>
              </a:pPr>
              <a:r>
                <a:rPr b="0" lang="en-GB"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IDM-VTON</a:t>
              </a:r>
              <a:endParaRPr b="0" sz="10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22"/>
            <p:cNvSpPr/>
            <p:nvPr/>
          </p:nvSpPr>
          <p:spPr>
            <a:xfrm>
              <a:off x="6762750" y="1238250"/>
              <a:ext cx="1905000" cy="2667000"/>
            </a:xfrm>
            <a:prstGeom prst="roundRect">
              <a:avLst>
                <a:gd fmla="val 40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2"/>
            <p:cNvSpPr txBox="1"/>
            <p:nvPr/>
          </p:nvSpPr>
          <p:spPr>
            <a:xfrm>
              <a:off x="6762750" y="1238250"/>
              <a:ext cx="1905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400" lIns="152400" spcFirstLastPara="1" rIns="152400" wrap="square" tIns="152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1CADE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cloud</a:t>
              </a:r>
              <a:endParaRPr sz="2000">
                <a:solidFill>
                  <a:srgbClr val="1CADE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External Services</a:t>
              </a:r>
              <a:endParaRPr b="1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Arial"/>
                <a:buChar char="●"/>
              </a:pPr>
              <a:r>
                <a:rPr b="0" lang="en-GB"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Hugging Face</a:t>
              </a:r>
              <a:endParaRPr b="0" sz="10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050"/>
                <a:buFont typeface="Arial"/>
                <a:buChar char="●"/>
              </a:pPr>
              <a:r>
                <a:rPr b="0" lang="en-GB"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H&amp;M Store API</a:t>
              </a:r>
              <a:endParaRPr b="0" sz="10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450"/>
                </a:spcBef>
                <a:spcAft>
                  <a:spcPts val="450"/>
                </a:spcAft>
                <a:buClr>
                  <a:srgbClr val="475569"/>
                </a:buClr>
                <a:buSzPts val="1050"/>
                <a:buFont typeface="Arial"/>
                <a:buChar char="●"/>
              </a:pPr>
              <a:r>
                <a:rPr b="0" lang="en-GB"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Vercel</a:t>
              </a:r>
              <a:endParaRPr b="0" sz="10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7" name="Google Shape;257;p22"/>
          <p:cNvGrpSpPr/>
          <p:nvPr/>
        </p:nvGrpSpPr>
        <p:grpSpPr>
          <a:xfrm>
            <a:off x="476250" y="4143375"/>
            <a:ext cx="8191500" cy="457200"/>
            <a:chOff x="476250" y="4143375"/>
            <a:chExt cx="8191500" cy="457200"/>
          </a:xfrm>
        </p:grpSpPr>
        <p:sp>
          <p:nvSpPr>
            <p:cNvPr id="258" name="Google Shape;258;p22"/>
            <p:cNvSpPr/>
            <p:nvPr/>
          </p:nvSpPr>
          <p:spPr>
            <a:xfrm>
              <a:off x="476250" y="4143375"/>
              <a:ext cx="8191500" cy="457200"/>
            </a:xfrm>
            <a:prstGeom prst="roundRect">
              <a:avLst>
                <a:gd fmla="val 12500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2"/>
            <p:cNvSpPr txBox="1"/>
            <p:nvPr/>
          </p:nvSpPr>
          <p:spPr>
            <a:xfrm>
              <a:off x="619125" y="4143375"/>
              <a:ext cx="79059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Note:</a:t>
              </a:r>
              <a:r>
                <a:rPr lang="en-GB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Your technology choices should match the latest repository rather than the older FastAPI architecture shown in the sample.</a:t>
              </a:r>
              <a:endParaRPr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3"/>
          <p:cNvSpPr txBox="1"/>
          <p:nvPr>
            <p:ph type="title"/>
          </p:nvPr>
        </p:nvSpPr>
        <p:spPr>
          <a:xfrm>
            <a:off x="435894" y="598767"/>
            <a:ext cx="82722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b="1" lang="en-GB" sz="3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ALGORITHM &amp; DEPLOYMENT</a:t>
            </a:r>
            <a:endParaRPr/>
          </a:p>
        </p:txBody>
      </p:sp>
      <p:grpSp>
        <p:nvGrpSpPr>
          <p:cNvPr id="265" name="Google Shape;265;p23"/>
          <p:cNvGrpSpPr/>
          <p:nvPr/>
        </p:nvGrpSpPr>
        <p:grpSpPr>
          <a:xfrm>
            <a:off x="476250" y="1143000"/>
            <a:ext cx="8191500" cy="3429000"/>
            <a:chOff x="476250" y="1143000"/>
            <a:chExt cx="8191500" cy="3429000"/>
          </a:xfrm>
        </p:grpSpPr>
        <p:sp>
          <p:nvSpPr>
            <p:cNvPr id="266" name="Google Shape;266;p23"/>
            <p:cNvSpPr/>
            <p:nvPr/>
          </p:nvSpPr>
          <p:spPr>
            <a:xfrm>
              <a:off x="476250" y="1143000"/>
              <a:ext cx="4000500" cy="3429000"/>
            </a:xfrm>
            <a:prstGeom prst="roundRect">
              <a:avLst>
                <a:gd fmla="val 2777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3"/>
            <p:cNvSpPr txBox="1"/>
            <p:nvPr/>
          </p:nvSpPr>
          <p:spPr>
            <a:xfrm>
              <a:off x="476250" y="1143000"/>
              <a:ext cx="40005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A. Recommendation Algorithm</a:t>
              </a:r>
              <a:endParaRPr b="1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Metadata Matching Weights:</a:t>
              </a:r>
              <a:endParaRPr b="1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GB" sz="105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Category Match</a:t>
              </a:r>
              <a:r>
                <a:rPr b="1" lang="en-GB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40%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GB" sz="105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Color Match</a:t>
              </a:r>
              <a:r>
                <a:rPr b="1" lang="en-GB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25%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GB" sz="105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Budget Fit</a:t>
              </a:r>
              <a:r>
                <a:rPr b="1" lang="en-GB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20%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GB" sz="105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Style / Brand</a:t>
              </a:r>
              <a:r>
                <a:rPr b="1" lang="en-GB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15%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Scoring Formula:</a:t>
              </a:r>
              <a:endParaRPr b="1" sz="1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GB" sz="1050">
                  <a:solidFill>
                    <a:srgbClr val="0F172A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Score = Cat + Color + Budget + Style</a:t>
              </a:r>
              <a:endParaRPr b="1" sz="1050">
                <a:solidFill>
                  <a:srgbClr val="0F172A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i="1" lang="en-GB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* Structured metadata matching only; does not use vector embeddings for this ranking.</a:t>
              </a:r>
              <a:endParaRPr i="1"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23"/>
            <p:cNvSpPr/>
            <p:nvPr/>
          </p:nvSpPr>
          <p:spPr>
            <a:xfrm>
              <a:off x="4667250" y="1143000"/>
              <a:ext cx="4000500" cy="3429000"/>
            </a:xfrm>
            <a:prstGeom prst="roundRect">
              <a:avLst>
                <a:gd fmla="val 2777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3"/>
            <p:cNvSpPr txBox="1"/>
            <p:nvPr/>
          </p:nvSpPr>
          <p:spPr>
            <a:xfrm>
              <a:off x="4667250" y="1143000"/>
              <a:ext cx="40005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B. Deployment &amp; Architecture</a:t>
              </a:r>
              <a:endParaRPr b="1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CI/CD &amp; Hosting Pipeline:</a:t>
              </a:r>
              <a:endParaRPr b="1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334155"/>
                  </a:solidFill>
                  <a:highlight>
                    <a:srgbClr val="F1F5F9"/>
                  </a:highlight>
                  <a:latin typeface="Arial"/>
                  <a:ea typeface="Arial"/>
                  <a:cs typeface="Arial"/>
                  <a:sym typeface="Arial"/>
                </a:rPr>
                <a:t>GitHub </a:t>
              </a:r>
              <a:r>
                <a:rPr b="1" lang="en-GB" sz="10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➔</a:t>
              </a:r>
              <a:r>
                <a:rPr b="1" lang="en-GB" sz="1000">
                  <a:solidFill>
                    <a:srgbClr val="334155"/>
                  </a:solidFill>
                  <a:highlight>
                    <a:srgbClr val="F1F5F9"/>
                  </a:highlight>
                  <a:latin typeface="Arial"/>
                  <a:ea typeface="Arial"/>
                  <a:cs typeface="Arial"/>
                  <a:sym typeface="Arial"/>
                </a:rPr>
                <a:t> Vercel </a:t>
              </a:r>
              <a:r>
                <a:rPr b="1" lang="en-GB" sz="10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➔</a:t>
              </a:r>
              <a:r>
                <a:rPr b="1" lang="en-GB" sz="1000">
                  <a:solidFill>
                    <a:srgbClr val="334155"/>
                  </a:solidFill>
                  <a:highlight>
                    <a:srgbClr val="F1F5F9"/>
                  </a:highlight>
                  <a:latin typeface="Arial"/>
                  <a:ea typeface="Arial"/>
                  <a:cs typeface="Arial"/>
                  <a:sym typeface="Arial"/>
                </a:rPr>
                <a:t> React + Python APIs </a:t>
              </a:r>
              <a:r>
                <a:rPr b="1" lang="en-GB" sz="10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➔</a:t>
              </a:r>
              <a:r>
                <a:rPr b="1" lang="en-GB" sz="1000">
                  <a:solidFill>
                    <a:srgbClr val="334155"/>
                  </a:solidFill>
                  <a:highlight>
                    <a:srgbClr val="F1F5F9"/>
                  </a:highlight>
                  <a:latin typeface="Arial"/>
                  <a:ea typeface="Arial"/>
                  <a:cs typeface="Arial"/>
                  <a:sym typeface="Arial"/>
                </a:rPr>
                <a:t> External APIs</a:t>
              </a:r>
              <a:endParaRPr b="1" sz="1000">
                <a:solidFill>
                  <a:srgbClr val="334155"/>
                </a:solidFill>
                <a:highlight>
                  <a:srgbClr val="F1F5F9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Production API Routes:</a:t>
              </a:r>
              <a:endParaRPr b="1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1CADE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GET</a:t>
              </a:r>
              <a:r>
                <a:rPr lang="en-GB" sz="10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/api/design</a:t>
              </a:r>
              <a:endParaRPr sz="10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1CADE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POST</a:t>
              </a:r>
              <a:r>
                <a:rPr lang="en-GB" sz="10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/api/products/search</a:t>
              </a:r>
              <a:endParaRPr sz="10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1CADE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POST</a:t>
              </a:r>
              <a:r>
                <a:rPr lang="en-GB" sz="10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/api/try-on</a:t>
              </a:r>
              <a:endParaRPr sz="10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1CADE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GET</a:t>
              </a:r>
              <a:r>
                <a:rPr lang="en-GB" sz="1000">
                  <a:solidFill>
                    <a:srgbClr val="0F172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/api/health</a:t>
              </a:r>
              <a:endParaRPr sz="100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4"/>
          <p:cNvSpPr txBox="1"/>
          <p:nvPr>
            <p:ph type="title"/>
          </p:nvPr>
        </p:nvSpPr>
        <p:spPr>
          <a:xfrm>
            <a:off x="435894" y="584342"/>
            <a:ext cx="82722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b="1" lang="en-GB" sz="3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/>
          </a:p>
        </p:txBody>
      </p:sp>
      <p:grpSp>
        <p:nvGrpSpPr>
          <p:cNvPr id="275" name="Google Shape;275;p24"/>
          <p:cNvGrpSpPr/>
          <p:nvPr/>
        </p:nvGrpSpPr>
        <p:grpSpPr>
          <a:xfrm>
            <a:off x="476250" y="1143000"/>
            <a:ext cx="4857900" cy="3429000"/>
            <a:chOff x="476250" y="1143000"/>
            <a:chExt cx="4857900" cy="3429000"/>
          </a:xfrm>
        </p:grpSpPr>
        <p:sp>
          <p:nvSpPr>
            <p:cNvPr id="276" name="Google Shape;276;p24"/>
            <p:cNvSpPr/>
            <p:nvPr/>
          </p:nvSpPr>
          <p:spPr>
            <a:xfrm>
              <a:off x="476250" y="1143000"/>
              <a:ext cx="4857900" cy="3429000"/>
            </a:xfrm>
            <a:prstGeom prst="roundRect">
              <a:avLst>
                <a:gd fmla="val 2777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4"/>
            <p:cNvSpPr txBox="1"/>
            <p:nvPr/>
          </p:nvSpPr>
          <p:spPr>
            <a:xfrm>
              <a:off x="476250" y="1143000"/>
              <a:ext cx="48579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Project Outcomes</a:t>
              </a:r>
              <a:endParaRPr b="1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GB" sz="1050">
                  <a:solidFill>
                    <a:srgbClr val="22C55E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lang="en-GB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AI-based fashion concept generation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GB" sz="1050">
                  <a:solidFill>
                    <a:srgbClr val="22C55E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lang="en-GB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Structured fashion specification extraction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GB" sz="1050">
                  <a:solidFill>
                    <a:srgbClr val="22C55E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lang="en-GB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Multiple AI image generation models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GB" sz="1050">
                  <a:solidFill>
                    <a:srgbClr val="22C55E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lang="en-GB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Real H&amp;M product recommendations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GB" sz="1050">
                  <a:solidFill>
                    <a:srgbClr val="22C55E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lang="en-GB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IDM-VTON virtual try-on integration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GB" sz="1050">
                  <a:solidFill>
                    <a:srgbClr val="22C55E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lang="en-GB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Before / After try-on experience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GB" sz="1050">
                  <a:solidFill>
                    <a:srgbClr val="22C55E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lang="en-GB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Collections and Tech Pack functionality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GB" sz="1050">
                  <a:solidFill>
                    <a:srgbClr val="22C55E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lang="en-GB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Download and copy utilities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GB" sz="1050">
                  <a:solidFill>
                    <a:srgbClr val="22C55E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lang="en-GB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Serverless Vercel architecture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22C55E"/>
                  </a:solidFill>
                  <a:latin typeface="Arial"/>
                  <a:ea typeface="Arial"/>
                  <a:cs typeface="Arial"/>
                  <a:sym typeface="Arial"/>
                </a:rPr>
                <a:t>✓</a:t>
              </a:r>
              <a:r>
                <a:rPr lang="en-GB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Security and input validation</a:t>
              </a:r>
              <a:endParaRPr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8" name="Google Shape;278;p24"/>
          <p:cNvGrpSpPr/>
          <p:nvPr/>
        </p:nvGrpSpPr>
        <p:grpSpPr>
          <a:xfrm>
            <a:off x="5524500" y="1143000"/>
            <a:ext cx="3143400" cy="3429000"/>
            <a:chOff x="5524500" y="1143000"/>
            <a:chExt cx="3143400" cy="3429000"/>
          </a:xfrm>
        </p:grpSpPr>
        <p:sp>
          <p:nvSpPr>
            <p:cNvPr id="279" name="Google Shape;279;p24"/>
            <p:cNvSpPr/>
            <p:nvPr/>
          </p:nvSpPr>
          <p:spPr>
            <a:xfrm>
              <a:off x="5524500" y="1143000"/>
              <a:ext cx="3143400" cy="3429000"/>
            </a:xfrm>
            <a:prstGeom prst="roundRect">
              <a:avLst>
                <a:gd fmla="val 3030" name="adj"/>
              </a:avLst>
            </a:prstGeom>
            <a:solidFill>
              <a:srgbClr val="F1F5F9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4"/>
            <p:cNvSpPr txBox="1"/>
            <p:nvPr/>
          </p:nvSpPr>
          <p:spPr>
            <a:xfrm>
              <a:off x="5524500" y="1143000"/>
              <a:ext cx="31434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6700" lIns="266700" spcFirstLastPara="1" rIns="266700" wrap="square" tIns="26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4000">
                  <a:solidFill>
                    <a:srgbClr val="1CADE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stars</a:t>
              </a:r>
              <a:endParaRPr sz="4000">
                <a:solidFill>
                  <a:srgbClr val="1CADE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Key Result</a:t>
              </a:r>
              <a:endParaRPr b="1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Successfully integrated multiple AI and external services into a unified fashion design workflow.</a:t>
              </a:r>
              <a:endParaRPr b="1" sz="12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5"/>
          <p:cNvSpPr txBox="1"/>
          <p:nvPr>
            <p:ph type="title"/>
          </p:nvPr>
        </p:nvSpPr>
        <p:spPr>
          <a:xfrm>
            <a:off x="435894" y="526617"/>
            <a:ext cx="8272200" cy="39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480">
                <a:solidFill>
                  <a:srgbClr val="1CADE4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b="0" sz="2480">
              <a:solidFill>
                <a:srgbClr val="1CADE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6" name="Google Shape;286;p25"/>
          <p:cNvGrpSpPr/>
          <p:nvPr/>
        </p:nvGrpSpPr>
        <p:grpSpPr>
          <a:xfrm>
            <a:off x="419100" y="1133475"/>
            <a:ext cx="4067100" cy="3448200"/>
            <a:chOff x="419100" y="1133475"/>
            <a:chExt cx="4067100" cy="3448200"/>
          </a:xfrm>
        </p:grpSpPr>
        <p:pic>
          <p:nvPicPr>
            <p:cNvPr id="287" name="Google Shape;287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19100" y="1133475"/>
              <a:ext cx="4067100" cy="3448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8" name="Google Shape;288;p25"/>
            <p:cNvSpPr txBox="1"/>
            <p:nvPr/>
          </p:nvSpPr>
          <p:spPr>
            <a:xfrm>
              <a:off x="428625" y="1143000"/>
              <a:ext cx="4048200" cy="3429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304800" lIns="304800" spcFirstLastPara="1" rIns="304800" wrap="square" tIns="30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OVERVIEW</a:t>
              </a:r>
              <a:endParaRPr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20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Unified Platform</a:t>
              </a:r>
              <a:endParaRPr b="0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GB" sz="11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The </a:t>
              </a:r>
              <a:r>
                <a:rPr b="1" lang="en-GB" sz="11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AI Fashion Design Generator</a:t>
              </a:r>
              <a:r>
                <a:rPr b="0" lang="en-GB" sz="11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demonstrates how Generative AI, product APIs and computer-vision-based virtual try-on can be combined into a unified fashion platform.</a:t>
              </a:r>
              <a:endParaRPr b="0" sz="11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KEY IMPACT</a:t>
              </a:r>
              <a:endParaRPr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1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The project reduces fragmentation in the fashion ideation workflow by bringing design generation, product discovery and virtual try-on into one application.</a:t>
              </a:r>
              <a:endParaRPr b="0" sz="11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9" name="Google Shape;289;p25"/>
          <p:cNvGrpSpPr/>
          <p:nvPr/>
        </p:nvGrpSpPr>
        <p:grpSpPr>
          <a:xfrm>
            <a:off x="4657725" y="1133475"/>
            <a:ext cx="4067100" cy="3448200"/>
            <a:chOff x="4657725" y="1133475"/>
            <a:chExt cx="4067100" cy="3448200"/>
          </a:xfrm>
        </p:grpSpPr>
        <p:pic>
          <p:nvPicPr>
            <p:cNvPr id="290" name="Google Shape;290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57725" y="1133475"/>
              <a:ext cx="4067100" cy="3448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1" name="Google Shape;291;p25"/>
            <p:cNvSpPr txBox="1"/>
            <p:nvPr/>
          </p:nvSpPr>
          <p:spPr>
            <a:xfrm>
              <a:off x="4667250" y="1143000"/>
              <a:ext cx="4048200" cy="3429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304800" lIns="304800" spcFirstLastPara="1" rIns="304800" wrap="square" tIns="30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ARCHITECTURE</a:t>
              </a:r>
              <a:endParaRPr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20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Connected Workflow</a:t>
              </a:r>
              <a:endParaRPr b="0" sz="20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19050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The system seamlessly connects each stage of fashion creation:</a:t>
              </a:r>
              <a:endParaRPr b="0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0369A1"/>
                  </a:solidFill>
                  <a:highlight>
                    <a:srgbClr val="E0F2FE"/>
                  </a:highlight>
                  <a:latin typeface="Arial"/>
                  <a:ea typeface="Arial"/>
                  <a:cs typeface="Arial"/>
                  <a:sym typeface="Arial"/>
                </a:rPr>
                <a:t>01</a:t>
              </a:r>
              <a:r>
                <a:rPr b="1" lang="en-GB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IDEATION</a:t>
              </a:r>
              <a:endParaRPr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0369A1"/>
                  </a:solidFill>
                  <a:highlight>
                    <a:srgbClr val="E0F2FE"/>
                  </a:highlight>
                  <a:latin typeface="Arial"/>
                  <a:ea typeface="Arial"/>
                  <a:cs typeface="Arial"/>
                  <a:sym typeface="Arial"/>
                </a:rPr>
                <a:t>02</a:t>
              </a:r>
              <a:r>
                <a:rPr b="1" lang="en-GB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GENERATION</a:t>
              </a:r>
              <a:endParaRPr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0369A1"/>
                  </a:solidFill>
                  <a:highlight>
                    <a:srgbClr val="E0F2FE"/>
                  </a:highlight>
                  <a:latin typeface="Arial"/>
                  <a:ea typeface="Arial"/>
                  <a:cs typeface="Arial"/>
                  <a:sym typeface="Arial"/>
                </a:rPr>
                <a:t>03</a:t>
              </a:r>
              <a:r>
                <a:rPr b="1" lang="en-GB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RECOMMENDATION</a:t>
              </a:r>
              <a:endParaRPr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0369A1"/>
                  </a:solidFill>
                  <a:highlight>
                    <a:srgbClr val="E0F2FE"/>
                  </a:highlight>
                  <a:latin typeface="Arial"/>
                  <a:ea typeface="Arial"/>
                  <a:cs typeface="Arial"/>
                  <a:sym typeface="Arial"/>
                </a:rPr>
                <a:t>04</a:t>
              </a:r>
              <a:r>
                <a:rPr b="1" lang="en-GB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TRY-ON</a:t>
              </a:r>
              <a:endParaRPr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6"/>
          <p:cNvSpPr txBox="1"/>
          <p:nvPr/>
        </p:nvSpPr>
        <p:spPr>
          <a:xfrm>
            <a:off x="435894" y="526617"/>
            <a:ext cx="8272200" cy="39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63">
                <a:solidFill>
                  <a:srgbClr val="1CADE4"/>
                </a:solidFill>
                <a:latin typeface="Arial"/>
                <a:ea typeface="Arial"/>
                <a:cs typeface="Arial"/>
                <a:sym typeface="Arial"/>
              </a:rPr>
              <a:t>FUTURE SCOPE</a:t>
            </a:r>
            <a:endParaRPr b="1" i="0" sz="2063">
              <a:solidFill>
                <a:srgbClr val="1CADE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7" name="Google Shape;297;p26"/>
          <p:cNvGrpSpPr/>
          <p:nvPr/>
        </p:nvGrpSpPr>
        <p:grpSpPr>
          <a:xfrm>
            <a:off x="476250" y="1238250"/>
            <a:ext cx="8220000" cy="3448200"/>
            <a:chOff x="476250" y="1238250"/>
            <a:chExt cx="8220000" cy="3448200"/>
          </a:xfrm>
        </p:grpSpPr>
        <p:sp>
          <p:nvSpPr>
            <p:cNvPr id="298" name="Google Shape;298;p26"/>
            <p:cNvSpPr/>
            <p:nvPr/>
          </p:nvSpPr>
          <p:spPr>
            <a:xfrm>
              <a:off x="476250" y="1238250"/>
              <a:ext cx="2581200" cy="2857500"/>
            </a:xfrm>
            <a:prstGeom prst="roundRect">
              <a:avLst>
                <a:gd fmla="val 369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6"/>
            <p:cNvSpPr txBox="1"/>
            <p:nvPr/>
          </p:nvSpPr>
          <p:spPr>
            <a:xfrm>
              <a:off x="476250" y="1238250"/>
              <a:ext cx="25812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5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AI &amp; Virtual Try-On</a:t>
              </a:r>
              <a:endParaRPr b="1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42875" lvl="0" marL="142875" marR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Improved garment extraction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42875" lvl="0" marL="142875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Better garment preprocessing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42875" lvl="0" marL="142875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Higher-quality virtual try-on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42875" lvl="0" marL="142875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More advanced fashion generation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26"/>
            <p:cNvSpPr/>
            <p:nvPr/>
          </p:nvSpPr>
          <p:spPr>
            <a:xfrm>
              <a:off x="3295650" y="1238250"/>
              <a:ext cx="2581200" cy="2857500"/>
            </a:xfrm>
            <a:prstGeom prst="roundRect">
              <a:avLst>
                <a:gd fmla="val 369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6"/>
            <p:cNvSpPr txBox="1"/>
            <p:nvPr/>
          </p:nvSpPr>
          <p:spPr>
            <a:xfrm>
              <a:off x="3295650" y="1238250"/>
              <a:ext cx="25812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5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Recommendation</a:t>
              </a:r>
              <a:endParaRPr b="1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42875" lvl="0" marL="142875" marR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More fashion marketplaces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42875" lvl="0" marL="142875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Personalized recommendations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42875" lvl="0" marL="142875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Advanced product similarity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26"/>
            <p:cNvSpPr/>
            <p:nvPr/>
          </p:nvSpPr>
          <p:spPr>
            <a:xfrm>
              <a:off x="6115050" y="1238250"/>
              <a:ext cx="2581200" cy="2857500"/>
            </a:xfrm>
            <a:prstGeom prst="roundRect">
              <a:avLst>
                <a:gd fmla="val 369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6"/>
            <p:cNvSpPr txBox="1"/>
            <p:nvPr/>
          </p:nvSpPr>
          <p:spPr>
            <a:xfrm>
              <a:off x="6115050" y="1238250"/>
              <a:ext cx="25812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5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Platform</a:t>
              </a:r>
              <a:endParaRPr b="1" sz="15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42875" lvl="0" marL="142875" marR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User authentication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42875" lvl="0" marL="142875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Cloud-based collections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42875" lvl="0" marL="142875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Analytics dashboard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42875" lvl="0" marL="142875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Mobile application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26"/>
            <p:cNvSpPr/>
            <p:nvPr/>
          </p:nvSpPr>
          <p:spPr>
            <a:xfrm>
              <a:off x="476250" y="4286250"/>
              <a:ext cx="8220000" cy="400200"/>
            </a:xfrm>
            <a:prstGeom prst="roundRect">
              <a:avLst>
                <a:gd fmla="val 14285" name="adj"/>
              </a:avLst>
            </a:prstGeom>
            <a:solidFill>
              <a:srgbClr val="EFF6FF"/>
            </a:solidFill>
            <a:ln cap="flat" cmpd="sng" w="9525">
              <a:solidFill>
                <a:srgbClr val="BFDB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6"/>
            <p:cNvSpPr txBox="1"/>
            <p:nvPr/>
          </p:nvSpPr>
          <p:spPr>
            <a:xfrm>
              <a:off x="476250" y="4286250"/>
              <a:ext cx="8220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Please Note: </a:t>
              </a:r>
              <a:r>
                <a:rPr b="0" lang="en-GB" sz="1100">
                  <a:solidFill>
                    <a:srgbClr val="1E3A8A"/>
                  </a:solidFill>
                  <a:latin typeface="Arial"/>
                  <a:ea typeface="Arial"/>
                  <a:cs typeface="Arial"/>
                  <a:sym typeface="Arial"/>
                </a:rPr>
                <a:t>These items represent future roadmap scope and are not currently completed features.</a:t>
              </a:r>
              <a:endParaRPr b="1" sz="11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7"/>
          <p:cNvSpPr/>
          <p:nvPr/>
        </p:nvSpPr>
        <p:spPr>
          <a:xfrm>
            <a:off x="15670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1" name="Google Shape;31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388" y="333375"/>
            <a:ext cx="8481900" cy="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388" y="333375"/>
            <a:ext cx="2766900" cy="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95638" y="333375"/>
            <a:ext cx="2766900" cy="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7"/>
          <p:cNvSpPr txBox="1"/>
          <p:nvPr/>
        </p:nvSpPr>
        <p:spPr>
          <a:xfrm>
            <a:off x="435893" y="526618"/>
            <a:ext cx="82722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rgbClr val="1CADE4"/>
                </a:solidFill>
                <a:latin typeface="Arial"/>
                <a:ea typeface="Arial"/>
                <a:cs typeface="Arial"/>
                <a:sym typeface="Arial"/>
              </a:rPr>
              <a:t>RESULTS &amp; SCREENSHOTS</a:t>
            </a:r>
            <a:endParaRPr b="1" sz="2100">
              <a:solidFill>
                <a:srgbClr val="1CADE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5" name="Google Shape;315;p27"/>
          <p:cNvGrpSpPr/>
          <p:nvPr/>
        </p:nvGrpSpPr>
        <p:grpSpPr>
          <a:xfrm>
            <a:off x="476250" y="4333875"/>
            <a:ext cx="8191500" cy="400200"/>
            <a:chOff x="476250" y="4333875"/>
            <a:chExt cx="8191500" cy="400200"/>
          </a:xfrm>
        </p:grpSpPr>
        <p:sp>
          <p:nvSpPr>
            <p:cNvPr id="316" name="Google Shape;316;p27"/>
            <p:cNvSpPr/>
            <p:nvPr/>
          </p:nvSpPr>
          <p:spPr>
            <a:xfrm>
              <a:off x="476250" y="4333875"/>
              <a:ext cx="8191500" cy="400200"/>
            </a:xfrm>
            <a:prstGeom prst="roundRect">
              <a:avLst>
                <a:gd fmla="val 14285" name="adj"/>
              </a:avLst>
            </a:prstGeom>
            <a:solidFill>
              <a:srgbClr val="EFF6FF"/>
            </a:solidFill>
            <a:ln cap="flat" cmpd="sng" w="9525">
              <a:solidFill>
                <a:srgbClr val="BFDB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7"/>
            <p:cNvSpPr txBox="1"/>
            <p:nvPr/>
          </p:nvSpPr>
          <p:spPr>
            <a:xfrm>
              <a:off x="476250" y="4333875"/>
              <a:ext cx="819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System Performance: </a:t>
              </a:r>
              <a:r>
                <a:rPr b="0" lang="en-GB" sz="1100">
                  <a:solidFill>
                    <a:srgbClr val="1E3A8A"/>
                  </a:solidFill>
                  <a:latin typeface="Arial"/>
                  <a:ea typeface="Arial"/>
                  <a:cs typeface="Arial"/>
                  <a:sym typeface="Arial"/>
                </a:rPr>
                <a:t>Real-time processing and pipeline execution successfully validated.</a:t>
              </a:r>
              <a:endParaRPr b="1" sz="11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8" name="Google Shape;318;p27"/>
          <p:cNvGrpSpPr/>
          <p:nvPr/>
        </p:nvGrpSpPr>
        <p:grpSpPr>
          <a:xfrm>
            <a:off x="7605992" y="4506225"/>
            <a:ext cx="1102133" cy="417027"/>
            <a:chOff x="-4762" y="9525"/>
            <a:chExt cx="666788" cy="252300"/>
          </a:xfrm>
        </p:grpSpPr>
        <p:pic>
          <p:nvPicPr>
            <p:cNvPr id="319" name="Google Shape;319;p2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525" y="57150"/>
              <a:ext cx="438300" cy="90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0" name="Google Shape;320;p2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76225" y="52388"/>
              <a:ext cx="385800" cy="90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1" name="Google Shape;321;p2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9525" y="52388"/>
              <a:ext cx="57300" cy="85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2" name="Google Shape;322;p2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-4762" y="9525"/>
              <a:ext cx="247800" cy="2523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" name="Google Shape;323;p2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73525" y="1060375"/>
            <a:ext cx="8801651" cy="408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900" y="569125"/>
            <a:ext cx="8289926" cy="4222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527625"/>
            <a:ext cx="8619826" cy="424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00" y="555350"/>
            <a:ext cx="8706751" cy="426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1"/>
          <p:cNvSpPr txBox="1"/>
          <p:nvPr>
            <p:ph type="title"/>
          </p:nvPr>
        </p:nvSpPr>
        <p:spPr>
          <a:xfrm>
            <a:off x="435894" y="526617"/>
            <a:ext cx="82722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rPr b="1" lang="en-GB" sz="3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/>
          </a:p>
        </p:txBody>
      </p:sp>
      <p:grpSp>
        <p:nvGrpSpPr>
          <p:cNvPr id="344" name="Google Shape;344;p31"/>
          <p:cNvGrpSpPr/>
          <p:nvPr/>
        </p:nvGrpSpPr>
        <p:grpSpPr>
          <a:xfrm>
            <a:off x="476250" y="1190625"/>
            <a:ext cx="8220000" cy="3571875"/>
            <a:chOff x="476250" y="1190625"/>
            <a:chExt cx="8220000" cy="3571875"/>
          </a:xfrm>
        </p:grpSpPr>
        <p:sp>
          <p:nvSpPr>
            <p:cNvPr id="345" name="Google Shape;345;p31"/>
            <p:cNvSpPr/>
            <p:nvPr/>
          </p:nvSpPr>
          <p:spPr>
            <a:xfrm>
              <a:off x="476250" y="1190625"/>
              <a:ext cx="2581200" cy="3048000"/>
            </a:xfrm>
            <a:prstGeom prst="roundRect">
              <a:avLst>
                <a:gd fmla="val 369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31"/>
            <p:cNvSpPr txBox="1"/>
            <p:nvPr/>
          </p:nvSpPr>
          <p:spPr>
            <a:xfrm>
              <a:off x="476250" y="1190625"/>
              <a:ext cx="25812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6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Project &amp; Code</a:t>
              </a:r>
              <a:endParaRPr b="1" sz="136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GB" sz="124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AI Fashion Design Generator</a:t>
              </a:r>
              <a:endParaRPr b="1" sz="124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i="1" lang="en-GB" sz="12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IBM Internship 2026</a:t>
              </a:r>
              <a:endParaRPr i="1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-GB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GitHub Repository:</a:t>
              </a:r>
              <a:endParaRPr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1160" u="sng">
                  <a:solidFill>
                    <a:schemeClr val="hlink"/>
                  </a:solidFill>
                  <a:latin typeface="Roboto Mono"/>
                  <a:ea typeface="Roboto Mono"/>
                  <a:cs typeface="Roboto Mono"/>
                  <a:sym typeface="Roboto Mono"/>
                  <a:hlinkClick r:id="rId3"/>
                </a:rPr>
                <a:t>AI-Fashion-Design-Generator-IBM-INTERSHIP-2026</a:t>
              </a:r>
              <a:endParaRPr sz="116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GB" sz="124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Third-Party Model</a:t>
              </a:r>
              <a:endParaRPr b="1" sz="124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-GB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IDM-VTON</a:t>
              </a:r>
              <a:endParaRPr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12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License: CC BY-NC-SA 4.0</a:t>
              </a:r>
              <a:endParaRPr i="1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31"/>
            <p:cNvSpPr/>
            <p:nvPr/>
          </p:nvSpPr>
          <p:spPr>
            <a:xfrm>
              <a:off x="3290888" y="1190625"/>
              <a:ext cx="2581200" cy="3048000"/>
            </a:xfrm>
            <a:prstGeom prst="roundRect">
              <a:avLst>
                <a:gd fmla="val 369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31"/>
            <p:cNvSpPr txBox="1"/>
            <p:nvPr/>
          </p:nvSpPr>
          <p:spPr>
            <a:xfrm>
              <a:off x="3290888" y="1190625"/>
              <a:ext cx="25812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Technologies &amp; APIs</a:t>
              </a:r>
              <a:endParaRPr b="1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Google Gemini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Cloudflare Workers AI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RapidAPI H&amp;M Store API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Hugging Face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IDM-VTON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750"/>
                </a:spcAft>
                <a:buNone/>
              </a:pPr>
              <a:r>
                <a:rPr b="1"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Vercel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31"/>
            <p:cNvSpPr/>
            <p:nvPr/>
          </p:nvSpPr>
          <p:spPr>
            <a:xfrm>
              <a:off x="6105525" y="1190625"/>
              <a:ext cx="2581200" cy="3048000"/>
            </a:xfrm>
            <a:prstGeom prst="roundRect">
              <a:avLst>
                <a:gd fmla="val 369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31"/>
            <p:cNvSpPr txBox="1"/>
            <p:nvPr/>
          </p:nvSpPr>
          <p:spPr>
            <a:xfrm>
              <a:off x="6105525" y="1190625"/>
              <a:ext cx="25812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Documentation</a:t>
              </a:r>
              <a:endParaRPr b="1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React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Vite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Tailwind CSS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FastAPI &amp; Python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750"/>
                </a:spcAft>
                <a:buNone/>
              </a:pPr>
              <a:r>
                <a:rPr b="1"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Vercel Platform Docs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31"/>
            <p:cNvSpPr/>
            <p:nvPr/>
          </p:nvSpPr>
          <p:spPr>
            <a:xfrm>
              <a:off x="476250" y="4381500"/>
              <a:ext cx="8220000" cy="381000"/>
            </a:xfrm>
            <a:prstGeom prst="roundRect">
              <a:avLst>
                <a:gd fmla="val 15000" name="adj"/>
              </a:avLst>
            </a:prstGeom>
            <a:solidFill>
              <a:srgbClr val="EFF6FF"/>
            </a:solidFill>
            <a:ln cap="flat" cmpd="sng" w="9525">
              <a:solidFill>
                <a:srgbClr val="BFDB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31"/>
            <p:cNvSpPr txBox="1"/>
            <p:nvPr/>
          </p:nvSpPr>
          <p:spPr>
            <a:xfrm>
              <a:off x="476250" y="4381500"/>
              <a:ext cx="822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References &amp; Standards: </a:t>
              </a:r>
              <a:r>
                <a:rPr b="0" lang="en-GB" sz="1100">
                  <a:solidFill>
                    <a:srgbClr val="1E3A8A"/>
                  </a:solidFill>
                  <a:latin typeface="Arial"/>
                  <a:ea typeface="Arial"/>
                  <a:cs typeface="Arial"/>
                  <a:sym typeface="Arial"/>
                </a:rPr>
                <a:t>Keep this project structure clean, modular, and fully documented.</a:t>
              </a:r>
              <a:endParaRPr b="1" sz="11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7" name="Google Shape;357;p32"/>
          <p:cNvGrpSpPr/>
          <p:nvPr/>
        </p:nvGrpSpPr>
        <p:grpSpPr>
          <a:xfrm>
            <a:off x="435894" y="526617"/>
            <a:ext cx="8272200" cy="397800"/>
            <a:chOff x="435894" y="526617"/>
            <a:chExt cx="8272200" cy="397800"/>
          </a:xfrm>
        </p:grpSpPr>
        <p:sp>
          <p:nvSpPr>
            <p:cNvPr id="358" name="Google Shape;358;p32"/>
            <p:cNvSpPr/>
            <p:nvPr/>
          </p:nvSpPr>
          <p:spPr>
            <a:xfrm>
              <a:off x="435894" y="526617"/>
              <a:ext cx="8272200" cy="397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32"/>
            <p:cNvSpPr txBox="1"/>
            <p:nvPr/>
          </p:nvSpPr>
          <p:spPr>
            <a:xfrm>
              <a:off x="435894" y="526617"/>
              <a:ext cx="8272200" cy="39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33325" lIns="68575" spcFirstLastPara="1" rIns="68575" wrap="square" tIns="33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DEPLOYMENT &amp; REPOSITORY</a:t>
              </a:r>
              <a:endParaRPr b="1" sz="2100">
                <a:solidFill>
                  <a:srgbClr val="1CADE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0" name="Google Shape;360;p32"/>
          <p:cNvSpPr/>
          <p:nvPr/>
        </p:nvSpPr>
        <p:spPr>
          <a:xfrm>
            <a:off x="476250" y="1238250"/>
            <a:ext cx="2581200" cy="2857500"/>
          </a:xfrm>
          <a:prstGeom prst="roundRect">
            <a:avLst>
              <a:gd fmla="val 3690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1" name="Google Shape;361;p32"/>
          <p:cNvGrpSpPr/>
          <p:nvPr/>
        </p:nvGrpSpPr>
        <p:grpSpPr>
          <a:xfrm>
            <a:off x="476250" y="1238250"/>
            <a:ext cx="2581200" cy="2857500"/>
            <a:chOff x="476250" y="1238250"/>
            <a:chExt cx="2581200" cy="2857500"/>
          </a:xfrm>
        </p:grpSpPr>
        <p:sp>
          <p:nvSpPr>
            <p:cNvPr id="362" name="Google Shape;362;p32"/>
            <p:cNvSpPr/>
            <p:nvPr/>
          </p:nvSpPr>
          <p:spPr>
            <a:xfrm>
              <a:off x="476250" y="1238250"/>
              <a:ext cx="2581200" cy="2857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32"/>
            <p:cNvSpPr txBox="1"/>
            <p:nvPr/>
          </p:nvSpPr>
          <p:spPr>
            <a:xfrm>
              <a:off x="476250" y="1238250"/>
              <a:ext cx="25812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🔗 Live Demo</a:t>
              </a:r>
              <a:endParaRPr b="1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Deployment Platform:</a:t>
              </a:r>
              <a:endParaRPr b="0"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Vercel Platform</a:t>
              </a:r>
              <a:endParaRPr b="1" sz="1100">
                <a:solidFill>
                  <a:srgbClr val="1CADE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Verified URL:</a:t>
              </a:r>
              <a:endParaRPr b="0"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GB" sz="1150" u="sng">
                  <a:solidFill>
                    <a:schemeClr val="hlink"/>
                  </a:solidFill>
                  <a:latin typeface="Roboto Mono"/>
                  <a:ea typeface="Roboto Mono"/>
                  <a:cs typeface="Roboto Mono"/>
                  <a:sym typeface="Roboto Mono"/>
                  <a:hlinkClick r:id="rId3"/>
                </a:rPr>
                <a:t>https://ai-fashion-design-generator-ibm-int.vercel.app/</a:t>
              </a:r>
              <a:endParaRPr b="1" sz="1150" u="sng">
                <a:solidFill>
                  <a:srgbClr val="6EAC1C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sp>
        <p:nvSpPr>
          <p:cNvPr id="364" name="Google Shape;364;p32"/>
          <p:cNvSpPr/>
          <p:nvPr/>
        </p:nvSpPr>
        <p:spPr>
          <a:xfrm>
            <a:off x="3290888" y="1238250"/>
            <a:ext cx="2581200" cy="2857500"/>
          </a:xfrm>
          <a:prstGeom prst="roundRect">
            <a:avLst>
              <a:gd fmla="val 3690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5" name="Google Shape;365;p32"/>
          <p:cNvGrpSpPr/>
          <p:nvPr/>
        </p:nvGrpSpPr>
        <p:grpSpPr>
          <a:xfrm>
            <a:off x="3290888" y="1238250"/>
            <a:ext cx="2581200" cy="2857500"/>
            <a:chOff x="3290888" y="1238250"/>
            <a:chExt cx="2581200" cy="2857500"/>
          </a:xfrm>
        </p:grpSpPr>
        <p:sp>
          <p:nvSpPr>
            <p:cNvPr id="366" name="Google Shape;366;p32"/>
            <p:cNvSpPr/>
            <p:nvPr/>
          </p:nvSpPr>
          <p:spPr>
            <a:xfrm>
              <a:off x="3290888" y="1238250"/>
              <a:ext cx="2581200" cy="2857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32"/>
            <p:cNvSpPr txBox="1"/>
            <p:nvPr/>
          </p:nvSpPr>
          <p:spPr>
            <a:xfrm>
              <a:off x="3290888" y="1238250"/>
              <a:ext cx="25812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55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💻 GitHub Repository</a:t>
              </a:r>
              <a:endParaRPr b="1" sz="125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0" lang="en-GB" sz="1158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Source Code &amp; Documentation:</a:t>
              </a:r>
              <a:endParaRPr b="0" sz="1158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-GB" sz="1158" u="sng">
                  <a:solidFill>
                    <a:srgbClr val="6EAC1C"/>
                  </a:solidFill>
                  <a:latin typeface="Roboto Mono"/>
                  <a:ea typeface="Roboto Mono"/>
                  <a:cs typeface="Roboto Mono"/>
                  <a:sym typeface="Roboto Mono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github.com/Piyu242005/AI-Fashion-Design-Generator-IBM-INTERSHIP-2026</a:t>
              </a:r>
              <a:endParaRPr b="1" sz="1158" u="sng">
                <a:solidFill>
                  <a:srgbClr val="6EAC1C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sp>
        <p:nvSpPr>
          <p:cNvPr id="368" name="Google Shape;368;p32"/>
          <p:cNvSpPr/>
          <p:nvPr/>
        </p:nvSpPr>
        <p:spPr>
          <a:xfrm>
            <a:off x="6105525" y="1238250"/>
            <a:ext cx="2581200" cy="2857500"/>
          </a:xfrm>
          <a:prstGeom prst="roundRect">
            <a:avLst>
              <a:gd fmla="val 3690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9" name="Google Shape;369;p32"/>
          <p:cNvGrpSpPr/>
          <p:nvPr/>
        </p:nvGrpSpPr>
        <p:grpSpPr>
          <a:xfrm>
            <a:off x="6105525" y="1238250"/>
            <a:ext cx="2581200" cy="2857500"/>
            <a:chOff x="6105525" y="1238250"/>
            <a:chExt cx="2581200" cy="2857500"/>
          </a:xfrm>
        </p:grpSpPr>
        <p:sp>
          <p:nvSpPr>
            <p:cNvPr id="370" name="Google Shape;370;p32"/>
            <p:cNvSpPr/>
            <p:nvPr/>
          </p:nvSpPr>
          <p:spPr>
            <a:xfrm>
              <a:off x="6105525" y="1238250"/>
              <a:ext cx="2581200" cy="2857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32"/>
            <p:cNvSpPr txBox="1"/>
            <p:nvPr/>
          </p:nvSpPr>
          <p:spPr>
            <a:xfrm>
              <a:off x="6105525" y="1238250"/>
              <a:ext cx="25812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📚 Technologies</a:t>
              </a:r>
              <a:endParaRPr b="1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95250" lvl="0" marL="95250" marR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b="0"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React</a:t>
              </a:r>
              <a:endParaRPr b="0"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95250" lvl="0" marL="95250" marR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b="0"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Vite</a:t>
              </a:r>
              <a:endParaRPr b="0"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95250" lvl="0" marL="95250" marR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b="0"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Python</a:t>
              </a:r>
              <a:endParaRPr b="0"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95250" lvl="0" marL="95250" marR="0" rtl="0" algn="l"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b="1" lang="en-GB" sz="11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b="0" lang="en-GB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Vercel</a:t>
              </a:r>
              <a:endParaRPr b="0"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2" name="Google Shape;372;p32"/>
          <p:cNvGrpSpPr/>
          <p:nvPr/>
        </p:nvGrpSpPr>
        <p:grpSpPr>
          <a:xfrm>
            <a:off x="476250" y="4286250"/>
            <a:ext cx="8220000" cy="400200"/>
            <a:chOff x="476250" y="4286250"/>
            <a:chExt cx="8220000" cy="400200"/>
          </a:xfrm>
        </p:grpSpPr>
        <p:sp>
          <p:nvSpPr>
            <p:cNvPr id="373" name="Google Shape;373;p32"/>
            <p:cNvSpPr/>
            <p:nvPr/>
          </p:nvSpPr>
          <p:spPr>
            <a:xfrm>
              <a:off x="476250" y="4286250"/>
              <a:ext cx="8220000" cy="400200"/>
            </a:xfrm>
            <a:prstGeom prst="roundRect">
              <a:avLst>
                <a:gd fmla="val 14280" name="adj"/>
              </a:avLst>
            </a:prstGeom>
            <a:solidFill>
              <a:srgbClr val="EFF6FF"/>
            </a:solidFill>
            <a:ln cap="flat" cmpd="sng" w="9525">
              <a:solidFill>
                <a:srgbClr val="BFDB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32"/>
            <p:cNvSpPr txBox="1"/>
            <p:nvPr/>
          </p:nvSpPr>
          <p:spPr>
            <a:xfrm>
              <a:off x="476250" y="4286250"/>
              <a:ext cx="8220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References &amp; Standards: </a:t>
              </a:r>
              <a:r>
                <a:rPr b="0" lang="en-GB" sz="1100">
                  <a:solidFill>
                    <a:srgbClr val="1E3A8A"/>
                  </a:solidFill>
                  <a:latin typeface="Arial"/>
                  <a:ea typeface="Arial"/>
                  <a:cs typeface="Arial"/>
                  <a:sym typeface="Arial"/>
                </a:rPr>
                <a:t>Keep this project structure clean, modular, and fully documented.</a:t>
              </a:r>
              <a:endParaRPr b="1" sz="11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9" name="Google Shape;379;p33"/>
          <p:cNvGrpSpPr/>
          <p:nvPr/>
        </p:nvGrpSpPr>
        <p:grpSpPr>
          <a:xfrm>
            <a:off x="571500" y="952500"/>
            <a:ext cx="8001000" cy="3048150"/>
            <a:chOff x="571500" y="952500"/>
            <a:chExt cx="8001000" cy="3048150"/>
          </a:xfrm>
        </p:grpSpPr>
        <p:grpSp>
          <p:nvGrpSpPr>
            <p:cNvPr id="380" name="Google Shape;380;p33"/>
            <p:cNvGrpSpPr/>
            <p:nvPr/>
          </p:nvGrpSpPr>
          <p:grpSpPr>
            <a:xfrm>
              <a:off x="571500" y="952500"/>
              <a:ext cx="4000500" cy="3048150"/>
              <a:chOff x="571500" y="952500"/>
              <a:chExt cx="4000500" cy="3048150"/>
            </a:xfrm>
          </p:grpSpPr>
          <p:sp>
            <p:nvSpPr>
              <p:cNvPr id="381" name="Google Shape;381;p33"/>
              <p:cNvSpPr txBox="1"/>
              <p:nvPr/>
            </p:nvSpPr>
            <p:spPr>
              <a:xfrm>
                <a:off x="571500" y="952500"/>
                <a:ext cx="4000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3800">
                    <a:solidFill>
                      <a:srgbClr val="1CADE4"/>
                    </a:solidFill>
                    <a:latin typeface="Arial"/>
                    <a:ea typeface="Arial"/>
                    <a:cs typeface="Arial"/>
                    <a:sym typeface="Arial"/>
                  </a:rPr>
                  <a:t>THANK YOU</a:t>
                </a:r>
                <a:endParaRPr b="1" sz="38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i="1" lang="en-GB" sz="13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"From idea to design to try-on — powered by AI."</a:t>
                </a:r>
                <a:endParaRPr b="0" i="1" sz="13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p33"/>
              <p:cNvSpPr/>
              <p:nvPr/>
            </p:nvSpPr>
            <p:spPr>
              <a:xfrm>
                <a:off x="571500" y="2571750"/>
                <a:ext cx="4000500" cy="1428900"/>
              </a:xfrm>
              <a:prstGeom prst="roundRect">
                <a:avLst>
                  <a:gd fmla="val 8000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33"/>
              <p:cNvSpPr txBox="1"/>
              <p:nvPr/>
            </p:nvSpPr>
            <p:spPr>
              <a:xfrm>
                <a:off x="571500" y="2571750"/>
                <a:ext cx="4000500" cy="14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28600" lIns="228600" spcFirstLastPara="1" rIns="228600" wrap="square" tIns="2286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Piyush Ramteke</a:t>
                </a:r>
                <a:endParaRPr b="1" sz="18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GB" sz="120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IBM Internship 2026</a:t>
                </a:r>
                <a:endParaRPr b="0" sz="12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1" lang="en-GB" sz="1300">
                    <a:solidFill>
                      <a:srgbClr val="1CADE4"/>
                    </a:solidFill>
                    <a:latin typeface="Arial"/>
                    <a:ea typeface="Arial"/>
                    <a:cs typeface="Arial"/>
                    <a:sym typeface="Arial"/>
                  </a:rPr>
                  <a:t>AI Fashion Design Generator</a:t>
                </a:r>
                <a:endParaRPr b="1" sz="1300">
                  <a:solidFill>
                    <a:srgbClr val="1CADE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4" name="Google Shape;384;p33"/>
            <p:cNvGrpSpPr/>
            <p:nvPr/>
          </p:nvGrpSpPr>
          <p:grpSpPr>
            <a:xfrm>
              <a:off x="4953000" y="952500"/>
              <a:ext cx="3619500" cy="3048000"/>
              <a:chOff x="4953000" y="952500"/>
              <a:chExt cx="3619500" cy="3048000"/>
            </a:xfrm>
          </p:grpSpPr>
          <p:pic>
            <p:nvPicPr>
              <p:cNvPr descr="A minimalist, high-end fashion design studio with digital screens displaying colorful 3D clothing renders and AI-generated garments, clean bright lighting, professional portfolio style." id="385" name="Google Shape;385;p33"/>
              <p:cNvPicPr preferRelativeResize="0"/>
              <p:nvPr/>
            </p:nvPicPr>
            <p:blipFill rotWithShape="1">
              <a:blip r:embed="rId3">
                <a:alphaModFix/>
              </a:blip>
              <a:srcRect b="0" l="5468" r="5468" t="0"/>
              <a:stretch/>
            </p:blipFill>
            <p:spPr>
              <a:xfrm>
                <a:off x="4953000" y="952500"/>
                <a:ext cx="3619500" cy="3048000"/>
              </a:xfrm>
              <a:prstGeom prst="roundRect">
                <a:avLst>
                  <a:gd fmla="val 5000" name="adj"/>
                </a:avLst>
              </a:prstGeom>
              <a:noFill/>
              <a:ln>
                <a:noFill/>
              </a:ln>
            </p:spPr>
          </p:pic>
          <p:sp>
            <p:nvSpPr>
              <p:cNvPr id="386" name="Google Shape;386;p33"/>
              <p:cNvSpPr/>
              <p:nvPr/>
            </p:nvSpPr>
            <p:spPr>
              <a:xfrm>
                <a:off x="4953000" y="952500"/>
                <a:ext cx="3619500" cy="3048000"/>
              </a:xfrm>
              <a:prstGeom prst="roundRect">
                <a:avLst>
                  <a:gd fmla="val 5000" name="adj"/>
                </a:avLst>
              </a:pr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ividendVTI">
  <a:themeElements>
    <a:clrScheme name="Blue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