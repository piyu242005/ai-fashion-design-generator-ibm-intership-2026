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17"/>
  </p:notesMasterIdLst>
  <p:sldIdLst>
    <p:sldId id="256" r:id="rId5"/>
    <p:sldId id="2146847054" r:id="rId6"/>
    <p:sldId id="262" r:id="rId7"/>
    <p:sldId id="263" r:id="rId8"/>
    <p:sldId id="265" r:id="rId9"/>
    <p:sldId id="266" r:id="rId10"/>
    <p:sldId id="267" r:id="rId11"/>
    <p:sldId id="268" r:id="rId12"/>
    <p:sldId id="2146847055" r:id="rId13"/>
    <p:sldId id="269" r:id="rId14"/>
    <p:sldId id="2146847056" r:id="rId15"/>
    <p:sldId id="25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nthini Mohan" userId="474bc158-19d5-47aa-903e-624d37a0a8e0" providerId="ADAL" clId="{BAC05C9F-06BA-48FD-9BB8-61B9C8C310B3}"/>
    <pc:docChg chg="undo custSel addSld modSld">
      <pc:chgData name="Nanthini Mohan" userId="474bc158-19d5-47aa-903e-624d37a0a8e0" providerId="ADAL" clId="{BAC05C9F-06BA-48FD-9BB8-61B9C8C310B3}" dt="2026-08-14T13:01:46.080" v="256" actId="20577"/>
      <pc:docMkLst>
        <pc:docMk/>
      </pc:docMkLst>
      <pc:sldChg chg="modSp mod">
        <pc:chgData name="Nanthini Mohan" userId="474bc158-19d5-47aa-903e-624d37a0a8e0" providerId="ADAL" clId="{BAC05C9F-06BA-48FD-9BB8-61B9C8C310B3}" dt="2026-08-14T12:52:23.820" v="237" actId="20577"/>
        <pc:sldMkLst>
          <pc:docMk/>
          <pc:sldMk cId="953325580" sldId="256"/>
        </pc:sldMkLst>
        <pc:spChg chg="mod">
          <ac:chgData name="Nanthini Mohan" userId="474bc158-19d5-47aa-903e-624d37a0a8e0" providerId="ADAL" clId="{BAC05C9F-06BA-48FD-9BB8-61B9C8C310B3}" dt="2026-08-14T12:52:23.820" v="237" actId="20577"/>
          <ac:spMkLst>
            <pc:docMk/>
            <pc:sldMk cId="953325580" sldId="256"/>
            <ac:spMk id="2" creationId="{A8A11E26-4C38-41A6-9857-11032CEECD80}"/>
          </ac:spMkLst>
        </pc:spChg>
        <pc:spChg chg="mod">
          <ac:chgData name="Nanthini Mohan" userId="474bc158-19d5-47aa-903e-624d37a0a8e0" providerId="ADAL" clId="{BAC05C9F-06BA-48FD-9BB8-61B9C8C310B3}" dt="2026-08-07T12:49:09.738" v="182" actId="20577"/>
          <ac:spMkLst>
            <pc:docMk/>
            <pc:sldMk cId="953325580" sldId="256"/>
            <ac:spMk id="4" creationId="{00000000-0000-0000-0000-000000000000}"/>
          </ac:spMkLst>
        </pc:spChg>
      </pc:sldChg>
      <pc:sldChg chg="addSp modSp mod">
        <pc:chgData name="Nanthini Mohan" userId="474bc158-19d5-47aa-903e-624d37a0a8e0" providerId="ADAL" clId="{BAC05C9F-06BA-48FD-9BB8-61B9C8C310B3}" dt="2026-08-07T12:59:44.086" v="185" actId="1076"/>
        <pc:sldMkLst>
          <pc:docMk/>
          <pc:sldMk cId="1483293388" sldId="267"/>
        </pc:sldMkLst>
        <pc:picChg chg="add mod">
          <ac:chgData name="Nanthini Mohan" userId="474bc158-19d5-47aa-903e-624d37a0a8e0" providerId="ADAL" clId="{BAC05C9F-06BA-48FD-9BB8-61B9C8C310B3}" dt="2026-08-07T12:59:44.086" v="185" actId="1076"/>
          <ac:picMkLst>
            <pc:docMk/>
            <pc:sldMk cId="1483293388" sldId="267"/>
            <ac:picMk id="4" creationId="{20C4544B-CCCE-4136-353A-F3921875E0E6}"/>
          </ac:picMkLst>
        </pc:picChg>
      </pc:sldChg>
      <pc:sldChg chg="modSp mod">
        <pc:chgData name="Nanthini Mohan" userId="474bc158-19d5-47aa-903e-624d37a0a8e0" providerId="ADAL" clId="{BAC05C9F-06BA-48FD-9BB8-61B9C8C310B3}" dt="2026-08-14T13:01:46.080" v="256" actId="20577"/>
        <pc:sldMkLst>
          <pc:docMk/>
          <pc:sldMk cId="258852918" sldId="2146847056"/>
        </pc:sldMkLst>
        <pc:spChg chg="mod">
          <ac:chgData name="Nanthini Mohan" userId="474bc158-19d5-47aa-903e-624d37a0a8e0" providerId="ADAL" clId="{BAC05C9F-06BA-48FD-9BB8-61B9C8C310B3}" dt="2026-08-14T13:01:46.080" v="256" actId="20577"/>
          <ac:spMkLst>
            <pc:docMk/>
            <pc:sldMk cId="258852918" sldId="2146847056"/>
            <ac:spMk id="3" creationId="{618C47C2-EF01-12B0-99EA-861F9629D1D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14-08-2026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7E254F1-4415-47BF-9E91-C5D4B9A33350}" type="slidenum">
              <a:rPr lang="en-IN" smtClean="0"/>
              <a:t>3</a:t>
            </a:fld>
            <a:endParaRPr lang="en-IN"/>
          </a:p>
        </p:txBody>
      </p:sp>
    </p:spTree>
    <p:extLst>
      <p:ext uri="{BB962C8B-B14F-4D97-AF65-F5344CB8AC3E}">
        <p14:creationId xmlns:p14="http://schemas.microsoft.com/office/powerpoint/2010/main" val="10095568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8/14/2026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8/14/2026</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8/14/2026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8/14/2026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8/14/2026</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8/14/2026</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8/14/2026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8/14/2026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8/14/2026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8/14/2026</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8/14/2026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8/14/2026</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 TargetMode="External"/><Relationship Id="rId2" Type="http://schemas.openxmlformats.org/officeDocument/2006/relationships/hyperlink" Target="https://share.streamlit.io/" TargetMode="External"/><Relationship Id="rId1" Type="http://schemas.openxmlformats.org/officeDocument/2006/relationships/slideLayout" Target="../slideLayouts/slideLayout2.xml"/><Relationship Id="rId4" Type="http://schemas.openxmlformats.org/officeDocument/2006/relationships/hyperlink" Target="https://docs.python.org/3/library/index.html" TargetMode="External"/></Relationships>
</file>

<file path=ppt/slides/_rels/slide11.xml.rels><?xml version="1.0" encoding="UTF-8" standalone="yes"?>
<Relationships xmlns="http://schemas.openxmlformats.org/package/2006/relationships"><Relationship Id="rId2" Type="http://schemas.openxmlformats.org/officeDocument/2006/relationships/hyperlink" Target="https://aicte-batch1-resume-builder-fuurng7gntvmkafiuf6own.streamlit.app/"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144000" cy="977778"/>
          </a:xfrm>
        </p:spPr>
        <p:txBody>
          <a:bodyPr>
            <a:normAutofit fontScale="90000"/>
          </a:bodyPr>
          <a:lstStyle/>
          <a:p>
            <a:pPr algn="ctr"/>
            <a:r>
              <a:rPr lang="en-US" b="1" dirty="0">
                <a:solidFill>
                  <a:schemeClr val="accent1"/>
                </a:solidFill>
                <a:latin typeface="Arial" panose="020B0604020202020204" pitchFamily="34" charset="0"/>
                <a:cs typeface="Arial" panose="020B0604020202020204" pitchFamily="34" charset="0"/>
              </a:rPr>
              <a:t>AI Powered fashion design generator</a:t>
            </a: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a:cs typeface="Arial"/>
              </a:rPr>
              <a:t>CAPSTONE PROJECT</a:t>
            </a:r>
          </a:p>
        </p:txBody>
      </p:sp>
      <p:sp>
        <p:nvSpPr>
          <p:cNvPr id="4" name="TextBox 3"/>
          <p:cNvSpPr txBox="1"/>
          <p:nvPr/>
        </p:nvSpPr>
        <p:spPr>
          <a:xfrm>
            <a:off x="3117529" y="4586365"/>
            <a:ext cx="7980183" cy="1631216"/>
          </a:xfrm>
          <a:prstGeom prst="rect">
            <a:avLst/>
          </a:prstGeom>
          <a:noFill/>
        </p:spPr>
        <p:txBody>
          <a:bodyPr wrap="square" lIns="91440" tIns="45720" rIns="91440" bIns="45720" rtlCol="0" anchor="t">
            <a:spAutoFit/>
          </a:bodyPr>
          <a:lstStyle/>
          <a:p>
            <a:r>
              <a:rPr lang="en-US" sz="2000" b="1" dirty="0">
                <a:solidFill>
                  <a:schemeClr val="accent1">
                    <a:lumMod val="75000"/>
                  </a:schemeClr>
                </a:solidFill>
                <a:latin typeface="Arial" pitchFamily="34" charset="0"/>
                <a:cs typeface="Arial" pitchFamily="34" charset="0"/>
              </a:rPr>
              <a:t>Presented By:</a:t>
            </a:r>
          </a:p>
          <a:p>
            <a:pPr marL="457200" indent="-457200">
              <a:buAutoNum type="arabicPeriod"/>
            </a:pPr>
            <a:r>
              <a:rPr lang="en-US" sz="2000" b="1" dirty="0">
                <a:solidFill>
                  <a:schemeClr val="accent1">
                    <a:lumMod val="75000"/>
                  </a:schemeClr>
                </a:solidFill>
                <a:latin typeface="Arial"/>
                <a:cs typeface="Arial"/>
              </a:rPr>
              <a:t>Student Name-</a:t>
            </a:r>
          </a:p>
          <a:p>
            <a:pPr marL="457200" indent="-457200">
              <a:buAutoNum type="arabicPeriod"/>
            </a:pPr>
            <a:r>
              <a:rPr lang="en-US" sz="2000" b="1" dirty="0">
                <a:solidFill>
                  <a:schemeClr val="accent1">
                    <a:lumMod val="75000"/>
                  </a:schemeClr>
                </a:solidFill>
                <a:latin typeface="Arial"/>
                <a:cs typeface="Arial"/>
              </a:rPr>
              <a:t>College Name-</a:t>
            </a:r>
          </a:p>
          <a:p>
            <a:pPr marL="457200" indent="-457200">
              <a:buAutoNum type="arabicPeriod"/>
            </a:pPr>
            <a:r>
              <a:rPr lang="en-US" sz="2000" b="1" dirty="0">
                <a:solidFill>
                  <a:schemeClr val="accent1">
                    <a:lumMod val="75000"/>
                  </a:schemeClr>
                </a:solidFill>
                <a:latin typeface="Arial"/>
                <a:cs typeface="Arial"/>
              </a:rPr>
              <a:t>Department </a:t>
            </a:r>
          </a:p>
          <a:p>
            <a:r>
              <a:rPr lang="en-US" sz="2000" b="1" dirty="0">
                <a:solidFill>
                  <a:schemeClr val="accent1">
                    <a:lumMod val="75000"/>
                  </a:schemeClr>
                </a:solidFill>
                <a:latin typeface="Arial"/>
                <a:cs typeface="Arial"/>
              </a:rPr>
              <a:t>4.   </a:t>
            </a:r>
            <a:r>
              <a:rPr lang="en-US" sz="2000" b="1" dirty="0" err="1">
                <a:solidFill>
                  <a:schemeClr val="accent1">
                    <a:lumMod val="75000"/>
                  </a:schemeClr>
                </a:solidFill>
                <a:latin typeface="Arial"/>
                <a:cs typeface="Arial"/>
              </a:rPr>
              <a:t>Aicte</a:t>
            </a:r>
            <a:r>
              <a:rPr lang="en-US" sz="2000" b="1" dirty="0">
                <a:solidFill>
                  <a:schemeClr val="accent1">
                    <a:lumMod val="75000"/>
                  </a:schemeClr>
                </a:solidFill>
                <a:latin typeface="Arial"/>
                <a:cs typeface="Arial"/>
              </a:rPr>
              <a:t> id</a:t>
            </a: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r>
              <a:rPr lang="en-US" sz="2000" b="1" dirty="0">
                <a:latin typeface="Arial"/>
                <a:ea typeface="+mn-lt"/>
                <a:cs typeface="Arial"/>
              </a:rPr>
              <a:t>Problem Statement </a:t>
            </a:r>
            <a:r>
              <a:rPr lang="en-US" sz="2000" dirty="0">
                <a:latin typeface="Arial"/>
                <a:ea typeface="+mn-lt"/>
                <a:cs typeface="Arial"/>
              </a:rPr>
              <a:t>(Should not include solution)</a:t>
            </a:r>
            <a:endParaRPr lang="en-US" dirty="0">
              <a:latin typeface="Arial"/>
              <a:cs typeface="Arial"/>
            </a:endParaRPr>
          </a:p>
          <a:p>
            <a:r>
              <a:rPr lang="en-US" sz="2000" b="1" dirty="0">
                <a:latin typeface="Arial"/>
                <a:ea typeface="+mn-lt"/>
                <a:cs typeface="Arial"/>
              </a:rPr>
              <a:t>Proposed System/Solution</a:t>
            </a:r>
            <a:endParaRPr lang="en-US" dirty="0">
              <a:latin typeface="Arial"/>
              <a:cs typeface="Arial"/>
            </a:endParaRPr>
          </a:p>
          <a:p>
            <a:r>
              <a:rPr lang="en-US" sz="2000" b="1" dirty="0">
                <a:latin typeface="Arial"/>
                <a:ea typeface="+mn-lt"/>
                <a:cs typeface="Calibri"/>
              </a:rPr>
              <a:t>System </a:t>
            </a:r>
            <a:r>
              <a:rPr lang="en-US" sz="2000" b="1" dirty="0">
                <a:latin typeface="Arial"/>
                <a:ea typeface="+mn-lt"/>
                <a:cs typeface="+mn-lt"/>
              </a:rPr>
              <a:t>Development Approach </a:t>
            </a:r>
            <a:r>
              <a:rPr lang="en-US" sz="2000" dirty="0">
                <a:latin typeface="Arial"/>
                <a:ea typeface="+mn-lt"/>
                <a:cs typeface="+mn-lt"/>
              </a:rPr>
              <a:t>(Technology Used) </a:t>
            </a:r>
            <a:endParaRPr lang="en-US" dirty="0">
              <a:latin typeface="Arial"/>
              <a:ea typeface="+mn-lt"/>
              <a:cs typeface="+mn-lt"/>
            </a:endParaRPr>
          </a:p>
          <a:p>
            <a:r>
              <a:rPr lang="en-US" sz="2000" b="1" dirty="0">
                <a:latin typeface="Arial"/>
                <a:ea typeface="+mn-lt"/>
                <a:cs typeface="+mn-lt"/>
              </a:rPr>
              <a:t>Algorithm &amp; Deployment  </a:t>
            </a:r>
            <a:endParaRPr lang="en-US" dirty="0">
              <a:latin typeface="Arial"/>
              <a:cs typeface="Calibri"/>
            </a:endParaRPr>
          </a:p>
          <a:p>
            <a:r>
              <a:rPr lang="en-US" sz="2000" b="1" dirty="0">
                <a:latin typeface="Arial"/>
                <a:ea typeface="+mn-lt"/>
                <a:cs typeface="Arial"/>
              </a:rPr>
              <a:t>Result</a:t>
            </a:r>
          </a:p>
          <a:p>
            <a:r>
              <a:rPr lang="en-US" sz="2000" b="1" dirty="0">
                <a:latin typeface="Arial"/>
                <a:ea typeface="+mn-lt"/>
                <a:cs typeface="Arial"/>
              </a:rPr>
              <a:t>Conclusion</a:t>
            </a:r>
            <a:endParaRPr lang="en-US" dirty="0">
              <a:latin typeface="Arial"/>
              <a:cs typeface="Arial"/>
            </a:endParaRPr>
          </a:p>
          <a:p>
            <a:r>
              <a:rPr lang="en-US" sz="2000" b="1" dirty="0">
                <a:latin typeface="Arial"/>
                <a:ea typeface="+mn-lt"/>
                <a:cs typeface="Arial"/>
              </a:rPr>
              <a:t>Future Scope</a:t>
            </a:r>
          </a:p>
          <a:p>
            <a:r>
              <a:rPr lang="en-US" sz="2000" b="1" dirty="0">
                <a:latin typeface="Arial"/>
                <a:ea typeface="+mn-lt"/>
                <a:cs typeface="Arial"/>
              </a:rPr>
              <a:t>References</a:t>
            </a:r>
            <a:endParaRPr lang="en-US" dirty="0">
              <a:latin typeface="Arial"/>
              <a:cs typeface="Arial"/>
            </a:endParaRPr>
          </a:p>
          <a:p>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Problem Statement</a:t>
            </a:r>
            <a:endParaRPr lang="en-US" sz="440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452403" y="1237632"/>
            <a:ext cx="11029615" cy="4673324"/>
          </a:xfrm>
        </p:spPr>
        <p:txBody>
          <a:bodyPr/>
          <a:lstStyle/>
          <a:p>
            <a:pPr marL="0" indent="0">
              <a:buNone/>
            </a:pPr>
            <a:endParaRPr lang="en-IN" dirty="0"/>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Proposed Solution</a:t>
            </a:r>
            <a:endParaRPr lang="en-US" sz="4400"/>
          </a:p>
        </p:txBody>
      </p:sp>
      <p:sp>
        <p:nvSpPr>
          <p:cNvPr id="2" name="Content Placeholder 1">
            <a:extLst>
              <a:ext uri="{FF2B5EF4-FFF2-40B4-BE49-F238E27FC236}">
                <a16:creationId xmlns:a16="http://schemas.microsoft.com/office/drawing/2014/main" id="{E041FD9D-DF07-9C37-1E61-1D920E0EF1D4}"/>
              </a:ext>
            </a:extLst>
          </p:cNvPr>
          <p:cNvSpPr>
            <a:spLocks noGrp="1"/>
          </p:cNvSpPr>
          <p:nvPr>
            <p:ph idx="1"/>
          </p:nvPr>
        </p:nvSpPr>
        <p:spPr>
          <a:xfrm>
            <a:off x="441671" y="1087378"/>
            <a:ext cx="11613485" cy="5563973"/>
          </a:xfrm>
        </p:spPr>
        <p:txBody>
          <a:bodyPr vert="horz" lIns="91440" tIns="45720" rIns="91440" bIns="45720" rtlCol="0" anchor="ctr">
            <a:noAutofit/>
          </a:bodyPr>
          <a:lstStyle/>
          <a:p>
            <a:pPr marL="305435" indent="-305435"/>
            <a:endParaRPr lang="en-IN" sz="1200" b="1" dirty="0">
              <a:latin typeface="Calibri"/>
              <a:cs typeface="Calibri"/>
            </a:endParaRPr>
          </a:p>
          <a:p>
            <a:pPr marL="305435" indent="-305435"/>
            <a:r>
              <a:rPr lang="en-IN" sz="1200" b="1" dirty="0">
                <a:latin typeface="Calibri"/>
                <a:ea typeface="+mn-lt"/>
                <a:cs typeface="+mn-lt"/>
              </a:rPr>
              <a:t>The proposed system aims to address the challenge of predicting the required bike count at each hour to ensure a stable supply of rental bikes. This involves leveraging data analytics and machine learning techniques to forecast demand patterns accurately. The solution will consist of the following components:</a:t>
            </a:r>
            <a:endParaRPr lang="en-IN" sz="1200" b="1" dirty="0">
              <a:latin typeface="Calibri"/>
              <a:cs typeface="Calibri"/>
            </a:endParaRPr>
          </a:p>
          <a:p>
            <a:pPr marL="305435" indent="-305435"/>
            <a:r>
              <a:rPr lang="en-IN" sz="1200" b="1" dirty="0">
                <a:latin typeface="Calibri"/>
                <a:ea typeface="+mn-lt"/>
                <a:cs typeface="+mn-lt"/>
              </a:rPr>
              <a:t>Data Collection:</a:t>
            </a:r>
            <a:endParaRPr lang="en-IN" sz="1200" b="1" dirty="0">
              <a:latin typeface="Calibri"/>
              <a:cs typeface="Calibri"/>
            </a:endParaRPr>
          </a:p>
          <a:p>
            <a:pPr marL="629920" lvl="1" indent="-305435"/>
            <a:r>
              <a:rPr lang="en-IN" sz="1200" b="1" dirty="0">
                <a:latin typeface="Calibri"/>
                <a:ea typeface="+mn-lt"/>
                <a:cs typeface="+mn-lt"/>
              </a:rPr>
              <a:t>Gather historical data on bike rentals, including time, date, location, and other relevant factors.</a:t>
            </a:r>
            <a:endParaRPr lang="en-IN" sz="1200" b="1" dirty="0">
              <a:latin typeface="Calibri"/>
              <a:cs typeface="Calibri"/>
            </a:endParaRPr>
          </a:p>
          <a:p>
            <a:pPr marL="629920" lvl="1" indent="-305435"/>
            <a:r>
              <a:rPr lang="en-IN" sz="1200" b="1" dirty="0">
                <a:latin typeface="Calibri"/>
                <a:ea typeface="+mn-lt"/>
                <a:cs typeface="+mn-lt"/>
              </a:rPr>
              <a:t>Utilize real-time data sources, such as weather conditions, events, and holidays, to enhance prediction accuracy.</a:t>
            </a:r>
            <a:endParaRPr lang="en-IN" sz="1200" b="1" dirty="0">
              <a:latin typeface="Calibri"/>
              <a:cs typeface="Calibri"/>
            </a:endParaRPr>
          </a:p>
          <a:p>
            <a:pPr marL="305435" indent="-305435"/>
            <a:r>
              <a:rPr lang="en-IN" sz="1200" b="1" dirty="0">
                <a:latin typeface="Calibri"/>
                <a:ea typeface="+mn-lt"/>
                <a:cs typeface="+mn-lt"/>
              </a:rPr>
              <a:t>Data Preprocessing:</a:t>
            </a:r>
            <a:endParaRPr lang="en-IN" sz="1200" b="1" dirty="0">
              <a:latin typeface="Calibri"/>
              <a:cs typeface="Calibri"/>
            </a:endParaRPr>
          </a:p>
          <a:p>
            <a:pPr marL="629920" lvl="1" indent="-305435"/>
            <a:r>
              <a:rPr lang="en-IN" sz="1200" b="1" dirty="0">
                <a:latin typeface="Calibri"/>
                <a:ea typeface="+mn-lt"/>
                <a:cs typeface="+mn-lt"/>
              </a:rPr>
              <a:t>Clean and preprocess the collected data to handle missing values, outliers, and inconsistencies.</a:t>
            </a:r>
            <a:endParaRPr lang="en-IN" sz="1200" b="1" dirty="0">
              <a:latin typeface="Calibri"/>
              <a:cs typeface="Calibri"/>
            </a:endParaRPr>
          </a:p>
          <a:p>
            <a:pPr marL="629920" lvl="1" indent="-305435"/>
            <a:r>
              <a:rPr lang="en-IN" sz="1200" b="1" dirty="0">
                <a:latin typeface="Calibri"/>
                <a:ea typeface="+mn-lt"/>
                <a:cs typeface="+mn-lt"/>
              </a:rPr>
              <a:t>Feature engineering to extract relevant features from the data that might impact bike demand.</a:t>
            </a:r>
            <a:endParaRPr lang="en-IN" sz="1200" b="1" dirty="0">
              <a:latin typeface="Calibri"/>
              <a:cs typeface="Calibri"/>
            </a:endParaRPr>
          </a:p>
          <a:p>
            <a:pPr marL="305435" indent="-305435"/>
            <a:r>
              <a:rPr lang="en-IN" sz="1200" b="1" dirty="0">
                <a:latin typeface="Calibri"/>
                <a:ea typeface="+mn-lt"/>
                <a:cs typeface="+mn-lt"/>
              </a:rPr>
              <a:t>Machine Learning Algorithm:</a:t>
            </a:r>
            <a:endParaRPr lang="en-IN" sz="1200" b="1" dirty="0">
              <a:latin typeface="Calibri"/>
              <a:cs typeface="Calibri"/>
            </a:endParaRPr>
          </a:p>
          <a:p>
            <a:pPr marL="629920" lvl="1" indent="-305435"/>
            <a:r>
              <a:rPr lang="en-IN" sz="1200" b="1" dirty="0">
                <a:latin typeface="Calibri"/>
                <a:ea typeface="+mn-lt"/>
                <a:cs typeface="+mn-lt"/>
              </a:rPr>
              <a:t>Implement a machine learning algorithm, such as a time-series forecasting model (e.g., ARIMA, SARIMA, or LSTM), to predict bike counts based on historical patterns.</a:t>
            </a:r>
            <a:endParaRPr lang="en-IN" sz="1200" b="1" dirty="0">
              <a:latin typeface="Calibri"/>
              <a:cs typeface="Calibri"/>
            </a:endParaRPr>
          </a:p>
          <a:p>
            <a:pPr marL="629920" lvl="1" indent="-305435"/>
            <a:r>
              <a:rPr lang="en-IN" sz="1200" b="1" dirty="0">
                <a:latin typeface="Calibri"/>
                <a:ea typeface="+mn-lt"/>
                <a:cs typeface="+mn-lt"/>
              </a:rPr>
              <a:t>Consider incorporating other factors like weather conditions, day of the week, and special events to improve prediction accuracy.</a:t>
            </a:r>
            <a:endParaRPr lang="en-IN" sz="1200" b="1" dirty="0">
              <a:latin typeface="Calibri"/>
              <a:cs typeface="Calibri"/>
            </a:endParaRPr>
          </a:p>
          <a:p>
            <a:pPr marL="305435" indent="-305435"/>
            <a:r>
              <a:rPr lang="en-IN" sz="1200" b="1" dirty="0">
                <a:latin typeface="Calibri"/>
                <a:ea typeface="+mn-lt"/>
                <a:cs typeface="+mn-lt"/>
              </a:rPr>
              <a:t>Deployment:</a:t>
            </a:r>
            <a:endParaRPr lang="en-IN" sz="1200" b="1" dirty="0">
              <a:latin typeface="Calibri"/>
              <a:cs typeface="Calibri"/>
            </a:endParaRPr>
          </a:p>
          <a:p>
            <a:pPr marL="629920" lvl="1" indent="-305435"/>
            <a:r>
              <a:rPr lang="en-IN" sz="1200" b="1" dirty="0">
                <a:latin typeface="Calibri"/>
                <a:ea typeface="+mn-lt"/>
                <a:cs typeface="+mn-lt"/>
              </a:rPr>
              <a:t>Develop a user-friendly interface or application that provides real-time predictions for bike counts at different hours.</a:t>
            </a:r>
            <a:endParaRPr lang="en-IN" sz="1200" b="1" dirty="0">
              <a:latin typeface="Calibri"/>
              <a:cs typeface="Calibri"/>
            </a:endParaRPr>
          </a:p>
          <a:p>
            <a:pPr marL="629920" lvl="1" indent="-305435"/>
            <a:r>
              <a:rPr lang="en-IN" sz="1200" b="1" dirty="0">
                <a:latin typeface="Calibri"/>
                <a:ea typeface="+mn-lt"/>
                <a:cs typeface="+mn-lt"/>
              </a:rPr>
              <a:t>Deploy the solution on a scalable and reliable platform, considering factors like server infrastructure, response time, and user accessibility.</a:t>
            </a:r>
            <a:endParaRPr lang="en-IN" sz="1200" b="1" dirty="0">
              <a:latin typeface="Calibri"/>
              <a:cs typeface="Calibri"/>
            </a:endParaRPr>
          </a:p>
          <a:p>
            <a:pPr marL="305435" indent="-305435"/>
            <a:r>
              <a:rPr lang="en-IN" sz="1200" b="1" dirty="0">
                <a:latin typeface="Calibri"/>
                <a:ea typeface="+mn-lt"/>
                <a:cs typeface="+mn-lt"/>
              </a:rPr>
              <a:t>Evaluation:</a:t>
            </a:r>
            <a:endParaRPr lang="en-IN" sz="1200" b="1" dirty="0">
              <a:latin typeface="Calibri"/>
              <a:cs typeface="Calibri"/>
            </a:endParaRPr>
          </a:p>
          <a:p>
            <a:pPr marL="629920" lvl="1" indent="-305435"/>
            <a:r>
              <a:rPr lang="en-IN" sz="1200" b="1" dirty="0">
                <a:latin typeface="Calibri"/>
                <a:ea typeface="+mn-lt"/>
                <a:cs typeface="+mn-lt"/>
              </a:rPr>
              <a:t>Assess the model's performance using appropriate metrics such as Mean Absolute Error (MAE), Root Mean Squared Error (RMSE), or other relevant metrics.</a:t>
            </a:r>
            <a:endParaRPr lang="en-IN" sz="1200" b="1" dirty="0">
              <a:latin typeface="Calibri"/>
              <a:cs typeface="Calibri"/>
            </a:endParaRPr>
          </a:p>
          <a:p>
            <a:pPr marL="629920" lvl="1" indent="-305435"/>
            <a:r>
              <a:rPr lang="en-IN" sz="1200" b="1" dirty="0">
                <a:latin typeface="Calibri"/>
                <a:ea typeface="+mn-lt"/>
                <a:cs typeface="+mn-lt"/>
              </a:rPr>
              <a:t>Fine-tune the model based on feedback and continuous monitoring of prediction accuracy.</a:t>
            </a:r>
            <a:endParaRPr lang="en-IN" sz="1200" b="1" dirty="0">
              <a:latin typeface="Calibri"/>
            </a:endParaRPr>
          </a:p>
          <a:p>
            <a:pPr marL="629920" lvl="1" indent="-305435"/>
            <a:r>
              <a:rPr lang="en-IN" sz="1200" dirty="0">
                <a:ea typeface="+mn-lt"/>
                <a:cs typeface="+mn-lt"/>
              </a:rPr>
              <a:t>Result:</a:t>
            </a:r>
            <a:endParaRPr lang="en-IN" sz="1200" dirty="0"/>
          </a:p>
          <a:p>
            <a:pPr marL="0" indent="0">
              <a:buNone/>
            </a:pPr>
            <a:endParaRPr lang="en-IN" dirty="0"/>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a:solidFill>
                  <a:schemeClr val="accent1"/>
                </a:solidFill>
                <a:latin typeface="Arial"/>
                <a:ea typeface="+mj-lt"/>
                <a:cs typeface="Arial"/>
              </a:rPr>
              <a:t>System  Approach</a:t>
            </a:r>
            <a:endParaRPr lang="en-US" sz="4400">
              <a:solidFill>
                <a:schemeClr val="accent1"/>
              </a:solidFill>
              <a:latin typeface="Calibri Light"/>
              <a:cs typeface="Calibri Light"/>
            </a:endParaRPr>
          </a:p>
        </p:txBody>
      </p:sp>
      <p:sp>
        <p:nvSpPr>
          <p:cNvPr id="2" name="Content Placeholder 1">
            <a:extLst>
              <a:ext uri="{FF2B5EF4-FFF2-40B4-BE49-F238E27FC236}">
                <a16:creationId xmlns:a16="http://schemas.microsoft.com/office/drawing/2014/main" id="{C4FFAF3C-BA60-9181-132C-C36C403AAEA7}"/>
              </a:ext>
            </a:extLst>
          </p:cNvPr>
          <p:cNvSpPr>
            <a:spLocks noGrp="1"/>
          </p:cNvSpPr>
          <p:nvPr>
            <p:ph idx="1"/>
          </p:nvPr>
        </p:nvSpPr>
        <p:spPr/>
        <p:txBody>
          <a:bodyPr/>
          <a:lstStyle/>
          <a:p>
            <a:pPr marL="0" indent="0">
              <a:buNone/>
            </a:pPr>
            <a:r>
              <a:rPr lang="en-IN" sz="1800" b="1" dirty="0">
                <a:solidFill>
                  <a:srgbClr val="0F0F0F"/>
                </a:solidFill>
                <a:ea typeface="+mn-lt"/>
                <a:cs typeface="+mn-lt"/>
              </a:rPr>
              <a:t>The "System Approach" section outlines the overall strategy and methodology for developing and implementing the rental bike prediction system. Here's a suggested structure for this section:</a:t>
            </a:r>
            <a:endParaRPr lang="en-US" dirty="0"/>
          </a:p>
          <a:p>
            <a:pPr marL="305435" indent="-305435"/>
            <a:r>
              <a:rPr lang="en-IN" sz="1800" b="1" dirty="0">
                <a:solidFill>
                  <a:srgbClr val="0F0F0F"/>
                </a:solidFill>
              </a:rPr>
              <a:t>System requirements</a:t>
            </a:r>
          </a:p>
          <a:p>
            <a:pPr marL="305435" indent="-305435"/>
            <a:r>
              <a:rPr lang="en-IN" sz="1800" b="1" dirty="0">
                <a:solidFill>
                  <a:srgbClr val="0F0F0F"/>
                </a:solidFill>
              </a:rPr>
              <a:t>Library required to build the model</a:t>
            </a:r>
          </a:p>
        </p:txBody>
      </p:sp>
    </p:spTree>
    <p:extLst>
      <p:ext uri="{BB962C8B-B14F-4D97-AF65-F5344CB8AC3E}">
        <p14:creationId xmlns:p14="http://schemas.microsoft.com/office/powerpoint/2010/main"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Algorithm &amp; Deployment</a:t>
            </a:r>
            <a:endParaRPr lang="en-US"/>
          </a:p>
        </p:txBody>
      </p:sp>
      <p:sp>
        <p:nvSpPr>
          <p:cNvPr id="2" name="Content Placeholder 1">
            <a:extLst>
              <a:ext uri="{FF2B5EF4-FFF2-40B4-BE49-F238E27FC236}">
                <a16:creationId xmlns:a16="http://schemas.microsoft.com/office/drawing/2014/main" id="{F7F0871F-2198-9E37-C96F-3611AA199B60}"/>
              </a:ext>
            </a:extLst>
          </p:cNvPr>
          <p:cNvSpPr>
            <a:spLocks noGrp="1"/>
          </p:cNvSpPr>
          <p:nvPr>
            <p:ph idx="1"/>
          </p:nvPr>
        </p:nvSpPr>
        <p:spPr/>
        <p:txBody>
          <a:bodyPr/>
          <a:lstStyle/>
          <a:p>
            <a:pPr marL="305435" indent="-305435"/>
            <a:r>
              <a:rPr lang="en-IN" sz="1400" dirty="0">
                <a:ea typeface="+mn-lt"/>
                <a:cs typeface="+mn-lt"/>
              </a:rPr>
              <a:t>In the Algorithm section, describe the machine learning algorithm chosen for predicting bike counts. Here's an example structure for this section:</a:t>
            </a:r>
            <a:endParaRPr lang="en-IN" sz="1400" dirty="0"/>
          </a:p>
          <a:p>
            <a:pPr marL="305435" indent="-305435"/>
            <a:r>
              <a:rPr lang="en-IN" sz="1400" b="1" dirty="0">
                <a:ea typeface="+mn-lt"/>
                <a:cs typeface="+mn-lt"/>
              </a:rPr>
              <a:t>Algorithm Selection:</a:t>
            </a:r>
            <a:endParaRPr lang="en-IN" sz="1400" dirty="0"/>
          </a:p>
          <a:p>
            <a:pPr marL="629920" lvl="1" indent="-305435"/>
            <a:r>
              <a:rPr lang="en-IN" dirty="0">
                <a:ea typeface="+mn-lt"/>
                <a:cs typeface="+mn-lt"/>
              </a:rPr>
              <a:t>Provide a brief overview of the chosen algorithm (e.g., time-series forecasting model, like ARIMA or LSTM) and justify its selection based on the problem statement and data characteristics.</a:t>
            </a:r>
            <a:endParaRPr lang="en-IN" dirty="0"/>
          </a:p>
          <a:p>
            <a:pPr marL="305435" indent="-305435"/>
            <a:r>
              <a:rPr lang="en-IN" sz="1400" b="1" dirty="0">
                <a:ea typeface="+mn-lt"/>
                <a:cs typeface="+mn-lt"/>
              </a:rPr>
              <a:t>Data Input:</a:t>
            </a:r>
            <a:endParaRPr lang="en-IN" sz="1400" dirty="0"/>
          </a:p>
          <a:p>
            <a:pPr marL="629920" lvl="1" indent="-305435"/>
            <a:r>
              <a:rPr lang="en-IN" dirty="0">
                <a:ea typeface="+mn-lt"/>
                <a:cs typeface="+mn-lt"/>
              </a:rPr>
              <a:t>Specify the input features used by the algorithm, such as historical bike rental data, weather conditions, day of the week, and any other relevant factors.</a:t>
            </a:r>
            <a:endParaRPr lang="en-IN" dirty="0"/>
          </a:p>
          <a:p>
            <a:pPr marL="305435" indent="-305435"/>
            <a:r>
              <a:rPr lang="en-IN" sz="1400" b="1" dirty="0">
                <a:ea typeface="+mn-lt"/>
                <a:cs typeface="+mn-lt"/>
              </a:rPr>
              <a:t>Training Process:</a:t>
            </a:r>
            <a:endParaRPr lang="en-IN" sz="1400" dirty="0"/>
          </a:p>
          <a:p>
            <a:pPr marL="629920" lvl="1" indent="-305435"/>
            <a:r>
              <a:rPr lang="en-IN" dirty="0">
                <a:ea typeface="+mn-lt"/>
                <a:cs typeface="+mn-lt"/>
              </a:rPr>
              <a:t>Explain how the algorithm is trained using historical data. Highlight any specific considerations or techniques employed, such as cross-validation or hyperparameter tuning.</a:t>
            </a:r>
            <a:endParaRPr lang="en-IN" dirty="0"/>
          </a:p>
          <a:p>
            <a:pPr marL="305435" indent="-305435"/>
            <a:r>
              <a:rPr lang="en-IN" sz="1400" b="1" dirty="0">
                <a:ea typeface="+mn-lt"/>
                <a:cs typeface="+mn-lt"/>
              </a:rPr>
              <a:t>Prediction Process:</a:t>
            </a:r>
            <a:endParaRPr lang="en-IN" sz="1400" dirty="0"/>
          </a:p>
          <a:p>
            <a:pPr marL="629920" lvl="1" indent="-305435"/>
            <a:r>
              <a:rPr lang="en-IN" dirty="0">
                <a:ea typeface="+mn-lt"/>
                <a:cs typeface="+mn-lt"/>
              </a:rPr>
              <a:t>Detail how the trained algorithm makes predictions for future bike counts. Discuss any real-time data inputs considered during the prediction phase.</a:t>
            </a:r>
            <a:endParaRPr lang="en-IN" dirty="0"/>
          </a:p>
          <a:p>
            <a:pPr marL="305435" indent="-305435"/>
            <a:endParaRPr lang="en-IN" dirty="0"/>
          </a:p>
        </p:txBody>
      </p:sp>
    </p:spTree>
    <p:extLst>
      <p:ext uri="{BB962C8B-B14F-4D97-AF65-F5344CB8AC3E}">
        <p14:creationId xmlns:p14="http://schemas.microsoft.com/office/powerpoint/2010/main" val="4154508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sp>
        <p:nvSpPr>
          <p:cNvPr id="2" name="Content Placeholder 1">
            <a:extLst>
              <a:ext uri="{FF2B5EF4-FFF2-40B4-BE49-F238E27FC236}">
                <a16:creationId xmlns:a16="http://schemas.microsoft.com/office/drawing/2014/main" id="{D3304455-6802-6CA9-8475-2F6DD1B8D409}"/>
              </a:ext>
            </a:extLst>
          </p:cNvPr>
          <p:cNvSpPr>
            <a:spLocks noGrp="1"/>
          </p:cNvSpPr>
          <p:nvPr>
            <p:ph idx="1"/>
          </p:nvPr>
        </p:nvSpPr>
        <p:spPr/>
        <p:txBody>
          <a:bodyPr>
            <a:normAutofit/>
          </a:bodyPr>
          <a:lstStyle/>
          <a:p>
            <a:pPr marL="0" indent="0">
              <a:buNone/>
            </a:pPr>
            <a:r>
              <a:rPr lang="en-IN" sz="2400" dirty="0">
                <a:solidFill>
                  <a:srgbClr val="0F0F0F"/>
                </a:solidFill>
                <a:ea typeface="+mn-lt"/>
                <a:cs typeface="+mn-lt"/>
              </a:rPr>
              <a:t>Present the results of the machine learning model in terms of its accuracy and effectiveness in predicting bike counts. Include visualizations and comparisons between predicted and actual counts to highlight the model's performance.</a:t>
            </a:r>
            <a:endParaRPr lang="en-IN" sz="2400" dirty="0"/>
          </a:p>
        </p:txBody>
      </p:sp>
      <p:pic>
        <p:nvPicPr>
          <p:cNvPr id="4" name="Picture 3">
            <a:extLst>
              <a:ext uri="{FF2B5EF4-FFF2-40B4-BE49-F238E27FC236}">
                <a16:creationId xmlns:a16="http://schemas.microsoft.com/office/drawing/2014/main" id="{20C4544B-CCCE-4136-353A-F3921875E0E6}"/>
              </a:ext>
            </a:extLst>
          </p:cNvPr>
          <p:cNvPicPr>
            <a:picLocks noChangeAspect="1"/>
          </p:cNvPicPr>
          <p:nvPr/>
        </p:nvPicPr>
        <p:blipFill>
          <a:blip r:embed="rId2"/>
          <a:stretch>
            <a:fillRect/>
          </a:stretch>
        </p:blipFill>
        <p:spPr>
          <a:xfrm>
            <a:off x="520809" y="1232452"/>
            <a:ext cx="7581790" cy="5021570"/>
          </a:xfrm>
          <a:prstGeom prst="rect">
            <a:avLst/>
          </a:prstGeom>
        </p:spPr>
      </p:pic>
    </p:spTree>
    <p:extLst>
      <p:ext uri="{BB962C8B-B14F-4D97-AF65-F5344CB8AC3E}">
        <p14:creationId xmlns:p14="http://schemas.microsoft.com/office/powerpoint/2010/main" val="1483293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2" name="Content Placeholder 1">
            <a:extLst>
              <a:ext uri="{FF2B5EF4-FFF2-40B4-BE49-F238E27FC236}">
                <a16:creationId xmlns:a16="http://schemas.microsoft.com/office/drawing/2014/main" id="{005E46AB-32C4-4B57-A2B1-50738A64BE1B}"/>
              </a:ext>
            </a:extLst>
          </p:cNvPr>
          <p:cNvSpPr>
            <a:spLocks noGrp="1"/>
          </p:cNvSpPr>
          <p:nvPr>
            <p:ph idx="1"/>
          </p:nvPr>
        </p:nvSpPr>
        <p:spPr/>
        <p:txBody>
          <a:bodyPr>
            <a:normAutofit/>
          </a:bodyPr>
          <a:lstStyle/>
          <a:p>
            <a:pPr marL="305435" indent="-305435"/>
            <a:r>
              <a:rPr lang="en-IN" sz="2000" dirty="0">
                <a:solidFill>
                  <a:srgbClr val="0F0F0F"/>
                </a:solidFill>
                <a:ea typeface="+mn-lt"/>
                <a:cs typeface="+mn-lt"/>
              </a:rPr>
              <a:t>Summarize the findings and discuss the effectiveness of the proposed solution. Highlight any challenges encountered during the implementation and potential improvements. Emphasize the importance of accurate bike count predictions for ensuring a stable supply of rental bikes in urban areas.</a:t>
            </a:r>
            <a:endParaRPr lang="en-IN" sz="2000" dirty="0"/>
          </a:p>
        </p:txBody>
      </p:sp>
    </p:spTree>
    <p:extLst>
      <p:ext uri="{BB962C8B-B14F-4D97-AF65-F5344CB8AC3E}">
        <p14:creationId xmlns:p14="http://schemas.microsoft.com/office/powerpoint/2010/main" val="3183315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638FD1-D00E-E75B-705C-564F06D93D7B}"/>
              </a:ext>
            </a:extLst>
          </p:cNvPr>
          <p:cNvSpPr>
            <a:spLocks noGrp="1"/>
          </p:cNvSpPr>
          <p:nvPr>
            <p:ph idx="1"/>
          </p:nvPr>
        </p:nvSpPr>
        <p:spPr/>
        <p:txBody>
          <a:bodyPr/>
          <a:lstStyle/>
          <a:p>
            <a:pPr marL="0" indent="0">
              <a:buNone/>
            </a:pPr>
            <a:endParaRPr lang="en-US" sz="2000" b="1" dirty="0"/>
          </a:p>
          <a:p>
            <a:pPr marL="305435" indent="-305435"/>
            <a:r>
              <a:rPr lang="en-US" sz="2000" dirty="0">
                <a:ea typeface="+mn-lt"/>
                <a:cs typeface="+mn-lt"/>
              </a:rPr>
              <a:t>Discuss potential enhancements and expansions for the system. This could include incorporating additional data sources, optimizing the algorithm for better performance, and expanding the system to cover multiple cities or regions. Consider the integration of emerging technologies such as edge computing or advanced machine learning techniques.</a:t>
            </a:r>
            <a:endParaRPr lang="en-US" sz="2000" dirty="0"/>
          </a:p>
          <a:p>
            <a:pPr marL="305435" indent="-305435"/>
            <a:endParaRPr lang="en-US" dirty="0"/>
          </a:p>
        </p:txBody>
      </p:sp>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a:t>
            </a:r>
          </a:p>
        </p:txBody>
      </p:sp>
    </p:spTree>
    <p:extLst>
      <p:ext uri="{BB962C8B-B14F-4D97-AF65-F5344CB8AC3E}">
        <p14:creationId xmlns:p14="http://schemas.microsoft.com/office/powerpoint/2010/main" val="6148826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2" name="Content Placeholder 1">
            <a:extLst>
              <a:ext uri="{FF2B5EF4-FFF2-40B4-BE49-F238E27FC236}">
                <a16:creationId xmlns:a16="http://schemas.microsoft.com/office/drawing/2014/main" id="{357C38BC-22B3-37B2-E0C3-812020A76077}"/>
              </a:ext>
            </a:extLst>
          </p:cNvPr>
          <p:cNvSpPr>
            <a:spLocks noGrp="1"/>
          </p:cNvSpPr>
          <p:nvPr>
            <p:ph idx="1"/>
          </p:nvPr>
        </p:nvSpPr>
        <p:spPr/>
        <p:txBody>
          <a:bodyPr>
            <a:normAutofit/>
          </a:bodyPr>
          <a:lstStyle/>
          <a:p>
            <a:pPr marL="305435" indent="-305435"/>
            <a:r>
              <a:rPr lang="en-IN" sz="2400" dirty="0">
                <a:solidFill>
                  <a:srgbClr val="0F0F0F"/>
                </a:solidFill>
                <a:ea typeface="+mn-lt"/>
                <a:cs typeface="+mn-lt"/>
              </a:rPr>
              <a:t>List and cite relevant sources, research papers, and articles that were instrumental in developing the proposed solution. This could include academic papers on bike demand prediction, machine learning algorithms, and best practices in data preprocessing and model evaluation.</a:t>
            </a:r>
          </a:p>
          <a:p>
            <a:pPr marL="305435" indent="-305435"/>
            <a:r>
              <a:rPr lang="en-IN" sz="2400" dirty="0" err="1">
                <a:hlinkClick r:id="rId2"/>
              </a:rPr>
              <a:t>nanthinimoha's</a:t>
            </a:r>
            <a:r>
              <a:rPr lang="en-IN" sz="2400" dirty="0">
                <a:hlinkClick r:id="rId2"/>
              </a:rPr>
              <a:t> apps · </a:t>
            </a:r>
            <a:r>
              <a:rPr lang="en-IN" sz="2400" dirty="0" err="1">
                <a:hlinkClick r:id="rId2"/>
              </a:rPr>
              <a:t>Streamlit</a:t>
            </a:r>
            <a:endParaRPr lang="en-IN" sz="2400" dirty="0"/>
          </a:p>
          <a:p>
            <a:pPr marL="305435" indent="-305435"/>
            <a:r>
              <a:rPr lang="en-IN" sz="2400" dirty="0">
                <a:hlinkClick r:id="rId3"/>
              </a:rPr>
              <a:t>GitHub</a:t>
            </a:r>
            <a:endParaRPr lang="en-IN" sz="2400" dirty="0"/>
          </a:p>
          <a:p>
            <a:pPr marL="305435" indent="-305435"/>
            <a:r>
              <a:rPr lang="en-IN" sz="2400" dirty="0">
                <a:hlinkClick r:id="rId4"/>
              </a:rPr>
              <a:t>The Python Standard Library — Python 3.14.6 documentation</a:t>
            </a:r>
            <a:endParaRPr lang="en-IN" sz="2400" dirty="0"/>
          </a:p>
        </p:txBody>
      </p:sp>
    </p:spTree>
    <p:extLst>
      <p:ext uri="{BB962C8B-B14F-4D97-AF65-F5344CB8AC3E}">
        <p14:creationId xmlns:p14="http://schemas.microsoft.com/office/powerpoint/2010/main" val="728950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D7422-ED9D-D856-C6AD-0F1A715C2428}"/>
              </a:ext>
            </a:extLst>
          </p:cNvPr>
          <p:cNvSpPr>
            <a:spLocks noGrp="1"/>
          </p:cNvSpPr>
          <p:nvPr>
            <p:ph type="title"/>
          </p:nvPr>
        </p:nvSpPr>
        <p:spPr/>
        <p:txBody>
          <a:bodyPr/>
          <a:lstStyle/>
          <a:p>
            <a:r>
              <a:rPr lang="en-IN" dirty="0"/>
              <a:t>Deployment link / </a:t>
            </a:r>
            <a:r>
              <a:rPr lang="en-IN" dirty="0" err="1"/>
              <a:t>github</a:t>
            </a:r>
            <a:r>
              <a:rPr lang="en-IN" dirty="0"/>
              <a:t> link</a:t>
            </a:r>
          </a:p>
        </p:txBody>
      </p:sp>
      <p:sp>
        <p:nvSpPr>
          <p:cNvPr id="3" name="Content Placeholder 2">
            <a:extLst>
              <a:ext uri="{FF2B5EF4-FFF2-40B4-BE49-F238E27FC236}">
                <a16:creationId xmlns:a16="http://schemas.microsoft.com/office/drawing/2014/main" id="{618C47C2-EF01-12B0-99EA-861F9629D1D9}"/>
              </a:ext>
            </a:extLst>
          </p:cNvPr>
          <p:cNvSpPr>
            <a:spLocks noGrp="1"/>
          </p:cNvSpPr>
          <p:nvPr>
            <p:ph idx="1"/>
          </p:nvPr>
        </p:nvSpPr>
        <p:spPr/>
        <p:txBody>
          <a:bodyPr/>
          <a:lstStyle/>
          <a:p>
            <a:r>
              <a:rPr lang="en-IN" dirty="0" err="1"/>
              <a:t>Github</a:t>
            </a:r>
            <a:r>
              <a:rPr lang="en-IN" dirty="0"/>
              <a:t> Link: https://github.com/Nanthi</a:t>
            </a:r>
          </a:p>
          <a:p>
            <a:r>
              <a:rPr lang="en-IN" dirty="0"/>
              <a:t>Deployment: HF, </a:t>
            </a:r>
            <a:r>
              <a:rPr lang="en-IN" dirty="0" err="1"/>
              <a:t>Streamlit</a:t>
            </a:r>
            <a:r>
              <a:rPr lang="en-IN" dirty="0"/>
              <a:t> Link, </a:t>
            </a:r>
            <a:r>
              <a:rPr lang="en-IN" dirty="0" err="1"/>
              <a:t>Gradio</a:t>
            </a:r>
            <a:r>
              <a:rPr lang="en-IN" dirty="0"/>
              <a:t> (OPTIONAL)</a:t>
            </a:r>
          </a:p>
          <a:p>
            <a:r>
              <a:rPr lang="en-IN" dirty="0" err="1">
                <a:hlinkClick r:id="rId2"/>
              </a:rPr>
              <a:t>Streamlit</a:t>
            </a:r>
            <a:endParaRPr lang="en-IN" dirty="0"/>
          </a:p>
        </p:txBody>
      </p:sp>
    </p:spTree>
    <p:extLst>
      <p:ext uri="{BB962C8B-B14F-4D97-AF65-F5344CB8AC3E}">
        <p14:creationId xmlns:p14="http://schemas.microsoft.com/office/powerpoint/2010/main" val="2588529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27BD4C1-B6B1-4715-ABF9-E660A51A4EA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Future forward</Template>
  <TotalTime>62</TotalTime>
  <Words>735</Words>
  <Application>Microsoft Office PowerPoint</Application>
  <PresentationFormat>Widescreen</PresentationFormat>
  <Paragraphs>69</Paragraphs>
  <Slides>12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Calibri Light</vt:lpstr>
      <vt:lpstr>Franklin Gothic Book</vt:lpstr>
      <vt:lpstr>Franklin Gothic Demi</vt:lpstr>
      <vt:lpstr>Wingdings 2</vt:lpstr>
      <vt:lpstr>DividendVTI</vt:lpstr>
      <vt:lpstr>AI Powered fashion design generator</vt:lpstr>
      <vt:lpstr>OUTLINE</vt:lpstr>
      <vt:lpstr>Problem Statement</vt:lpstr>
      <vt:lpstr>Proposed Solution</vt:lpstr>
      <vt:lpstr>System  Approach</vt:lpstr>
      <vt:lpstr>Algorithm &amp; Deployment</vt:lpstr>
      <vt:lpstr>Result</vt:lpstr>
      <vt:lpstr>Conclusion</vt:lpstr>
      <vt:lpstr>PowerPoint Presentation</vt:lpstr>
      <vt:lpstr>References</vt:lpstr>
      <vt:lpstr>Deployment link / github link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Nanthini Mohan</cp:lastModifiedBy>
  <cp:revision>19</cp:revision>
  <dcterms:created xsi:type="dcterms:W3CDTF">2021-05-26T16:50:10Z</dcterms:created>
  <dcterms:modified xsi:type="dcterms:W3CDTF">2026-08-14T13:01:48Z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