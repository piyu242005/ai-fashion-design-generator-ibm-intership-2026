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Libre Franklin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Franklin Gothic"/>
      <p:bold r:id="rId31"/>
    </p:embeddedFont>
    <p:embeddedFont>
      <p:font typeface="Montserrat"/>
      <p:bold r:id="rId32"/>
      <p:boldItalic r:id="rId33"/>
    </p:embeddedFont>
    <p:embeddedFont>
      <p:font typeface="Inter"/>
      <p:bold r:id="rId34"/>
      <p:boldItalic r:id="rId35"/>
    </p:embeddedFont>
    <p:embeddedFont>
      <p:font typeface="Montserrat ExtraBold"/>
      <p:bold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ibreFranklin-bold.fntdata"/><Relationship Id="rId23" Type="http://schemas.openxmlformats.org/officeDocument/2006/relationships/font" Target="fonts/LibreFrankli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boldItalic.fntdata"/><Relationship Id="rId25" Type="http://schemas.openxmlformats.org/officeDocument/2006/relationships/font" Target="fonts/LibreFranklin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ranklinGothic-bold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13ac46ad_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713ac46ad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13ac46ad_2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713ac46ad_2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1488cc9d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1488cc9d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713ac46ad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713ac46ad_2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713ac46ad_2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1488cc9d_0_1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71488cc9d_0_1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1488cc9d_0_2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71488cc9d_0_2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13ac46ad_2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713ac46ad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713ac46ad_2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713ac46ad_2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13ac46ad_2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713ac46ad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713ac46ad_2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713ac46ad_2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713ac46ad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713ac46ad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713ac46ad_2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713ac46ad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71488cc9d_0_5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71488cc9d_0_5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71488cc9d_0_5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71488cc9d_0_5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713ac46ad_2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713ac46ad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713ac46ad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713ac46ad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713ac46ad_2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713ac46ad_2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3"/>
            <a:ext cx="8474100" cy="25035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35894" y="976520"/>
            <a:ext cx="8272200" cy="3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31921" y="547244"/>
            <a:ext cx="82722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335863" y="3856481"/>
            <a:ext cx="8468100" cy="944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435895" y="1795463"/>
            <a:ext cx="82722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b="0" sz="27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35895" y="547244"/>
            <a:ext cx="8272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35895" y="1043609"/>
            <a:ext cx="38961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812029" y="1043609"/>
            <a:ext cx="38961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35893" y="1688168"/>
            <a:ext cx="3896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0" sz="15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35896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812029" y="1688169"/>
            <a:ext cx="3896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sz="15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812028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335863" y="450900"/>
            <a:ext cx="2762100" cy="43617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575893" y="700088"/>
            <a:ext cx="2274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ranklin Gothic"/>
              <a:buNone/>
              <a:defRPr b="0" sz="1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675696" y="884872"/>
            <a:ext cx="49881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500">
                <a:solidFill>
                  <a:schemeClr val="dk2"/>
                </a:solidFill>
              </a:defRPr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spcBef>
                <a:spcPts val="500"/>
              </a:spcBef>
              <a:spcAft>
                <a:spcPts val="0"/>
              </a:spcAft>
              <a:buSzPts val="1100"/>
              <a:buChar char="◼"/>
              <a:defRPr sz="1200">
                <a:solidFill>
                  <a:schemeClr val="dk2"/>
                </a:solidFill>
              </a:defRPr>
            </a:lvl3pPr>
            <a:lvl4pPr indent="-292100" lvl="3" marL="18288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4pPr>
            <a:lvl5pPr indent="-292100" lvl="4" marL="22860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5pPr>
            <a:lvl6pPr indent="-292100" lvl="5" marL="27432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6pPr>
            <a:lvl7pPr indent="-292100" lvl="6" marL="32004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7pPr>
            <a:lvl8pPr indent="-292100" lvl="7" marL="36576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8pPr>
            <a:lvl9pPr indent="-292100" lvl="8" marL="4114800" algn="l">
              <a:spcBef>
                <a:spcPts val="500"/>
              </a:spcBef>
              <a:spcAft>
                <a:spcPts val="50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75893" y="2127491"/>
            <a:ext cx="2274000" cy="22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5704463" y="484268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35894" y="4839443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918725" y="4842687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b="0" sz="18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35863" y="481013"/>
            <a:ext cx="8468100" cy="2738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35894" y="3945095"/>
            <a:ext cx="82722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57206" y="-1359901"/>
            <a:ext cx="3429600" cy="82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292100" lvl="1" marL="9144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2pPr>
            <a:lvl3pPr indent="-285750" lvl="2" marL="1371600" algn="l">
              <a:spcBef>
                <a:spcPts val="500"/>
              </a:spcBef>
              <a:spcAft>
                <a:spcPts val="0"/>
              </a:spcAft>
              <a:buSzPts val="900"/>
              <a:buChar char="◼"/>
              <a:defRPr/>
            </a:lvl3pPr>
            <a:lvl4pPr indent="-279400" lvl="3" marL="18288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indent="-279400" lvl="4" marL="22860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6043613" y="449794"/>
            <a:ext cx="2765400" cy="43626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5522100" y="1278900"/>
            <a:ext cx="3605400" cy="23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464111" y="-235200"/>
            <a:ext cx="3605400" cy="53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82" name="Google Shape;82;p12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1488cc9d_29_0)">
  <p:cSld name="Generated (g3f71488cc9d_29_0)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f71488cc9d_22_0)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5894" y="528843"/>
            <a:ext cx="82722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  <a:defRPr b="0" i="0" sz="21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5894" y="1061399"/>
            <a:ext cx="8272200" cy="3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921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2857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◼"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794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b="0" i="0" sz="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794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b="0" i="0" sz="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794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794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794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794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63752" y="4828433"/>
            <a:ext cx="844353" cy="27384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Piyu242005/AI-Fashion-Design-Generator-IBM-INTERSHIP-2026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i-fashion-design-generator-ibm-int.vercel.app/" TargetMode="External"/><Relationship Id="rId4" Type="http://schemas.openxmlformats.org/officeDocument/2006/relationships/hyperlink" Target="https://github.com/Piyu242005/AI-Fashion-Design-Generator-IBM-INTERSHIP-2026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762000" y="2095500"/>
            <a:ext cx="7620000" cy="2095500"/>
          </a:xfrm>
          <a:prstGeom prst="rect">
            <a:avLst/>
          </a:prstGeom>
          <a:solidFill>
            <a:srgbClr val="2C3A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type="ctrTitle"/>
          </p:nvPr>
        </p:nvSpPr>
        <p:spPr>
          <a:xfrm>
            <a:off x="762000" y="1095375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CADE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AI FASHION DESIGN GENERATOR</a:t>
            </a:r>
            <a:endParaRPr b="0" sz="2800">
              <a:solidFill>
                <a:srgbClr val="1CADE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762000" y="714375"/>
            <a:ext cx="7620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482AB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  <a:endParaRPr b="1" sz="1300">
              <a:solidFill>
                <a:srgbClr val="1482A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2095500"/>
            <a:ext cx="7620000" cy="187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238125" lIns="476250" spcFirstLastPara="1" rIns="476250" wrap="square" tIns="238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8E9AA0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 b="1" sz="1100">
              <a:solidFill>
                <a:srgbClr val="8E9AA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Name: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Piyush Parmanand Ramteke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College Name: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G H Raisoni University, Amravati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BCA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AICTE ID: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STU6a0db90a60d191779284234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571500" y="523875"/>
            <a:ext cx="7886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1" sz="33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71500" y="1381125"/>
            <a:ext cx="8001000" cy="3048000"/>
            <a:chOff x="571500" y="1381125"/>
            <a:chExt cx="8001000" cy="3048000"/>
          </a:xfrm>
        </p:grpSpPr>
        <p:sp>
          <p:nvSpPr>
            <p:cNvPr id="109" name="Google Shape;109;p16"/>
            <p:cNvSpPr txBox="1"/>
            <p:nvPr/>
          </p:nvSpPr>
          <p:spPr>
            <a:xfrm>
              <a:off x="57150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Introduction / Background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(Excludes solution)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System Architecture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/ Workflow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Key Features / Modules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333375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Proposed System / Solution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System Development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(Technology Used)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Algorithm &amp; Deployment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609600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09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Future Scope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Results / Screenshots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35894" y="523875"/>
            <a:ext cx="8272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3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INTRODUCTION &amp; BACKGROUND</a:t>
            </a:r>
            <a:endParaRPr b="1" i="0" sz="33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7"/>
          <p:cNvGrpSpPr/>
          <p:nvPr/>
        </p:nvGrpSpPr>
        <p:grpSpPr>
          <a:xfrm>
            <a:off x="428625" y="1333500"/>
            <a:ext cx="8267775" cy="2762400"/>
            <a:chOff x="428625" y="1333500"/>
            <a:chExt cx="8267775" cy="2762400"/>
          </a:xfrm>
        </p:grpSpPr>
        <p:sp>
          <p:nvSpPr>
            <p:cNvPr id="118" name="Google Shape;118;p17"/>
            <p:cNvSpPr/>
            <p:nvPr/>
          </p:nvSpPr>
          <p:spPr>
            <a:xfrm>
              <a:off x="428625" y="1333500"/>
              <a:ext cx="1952700" cy="27624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533650" y="1333500"/>
              <a:ext cx="1952700" cy="27624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638675" y="1333500"/>
              <a:ext cx="1952700" cy="27624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6743700" y="1333500"/>
              <a:ext cx="1952700" cy="2762400"/>
            </a:xfrm>
            <a:prstGeom prst="roundRect">
              <a:avLst>
                <a:gd fmla="val 5853" name="adj"/>
              </a:avLst>
            </a:prstGeom>
            <a:solidFill>
              <a:srgbClr val="2C3A41"/>
            </a:solidFill>
            <a:ln cap="flat" cmpd="sng" w="1430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/>
        </p:nvSpPr>
        <p:spPr>
          <a:xfrm>
            <a:off x="428625" y="1333500"/>
            <a:ext cx="1952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2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Manual Ideation</a:t>
            </a:r>
            <a:endParaRPr b="1" sz="13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Creating and iterating on fashion concepts manually requires significant time and expertise.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533650" y="1333500"/>
            <a:ext cx="1952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2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Specialist Tools</a:t>
            </a:r>
            <a:endParaRPr b="1" sz="13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Professional design software can create technical and accessibility barriers for non-expert users.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638675" y="1333500"/>
            <a:ext cx="1952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2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Fragmented Flow</a:t>
            </a:r>
            <a:endParaRPr b="1" sz="13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Design generation, product discovery, and virtual try-on are commonly handled as separate processes.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743700" y="1333500"/>
            <a:ext cx="1952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2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Generative AI can combine these stages into one unified fashion workflow.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35894" y="6500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3300"/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71500" y="1047750"/>
            <a:ext cx="8001000" cy="666750"/>
            <a:chOff x="571500" y="1047750"/>
            <a:chExt cx="8001000" cy="666750"/>
          </a:xfrm>
        </p:grpSpPr>
        <p:sp>
          <p:nvSpPr>
            <p:cNvPr id="133" name="Google Shape;133;p18"/>
            <p:cNvSpPr txBox="1"/>
            <p:nvPr/>
          </p:nvSpPr>
          <p:spPr>
            <a:xfrm>
              <a:off x="571500" y="1047750"/>
              <a:ext cx="800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Traditional Workflow</a:t>
              </a:r>
              <a:endParaRPr b="1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" name="Google Shape;134;p18"/>
            <p:cNvGrpSpPr/>
            <p:nvPr/>
          </p:nvGrpSpPr>
          <p:grpSpPr>
            <a:xfrm>
              <a:off x="571500" y="1333500"/>
              <a:ext cx="1314600" cy="381000"/>
              <a:chOff x="571500" y="1333500"/>
              <a:chExt cx="1314600" cy="381000"/>
            </a:xfrm>
          </p:grpSpPr>
          <p:sp>
            <p:nvSpPr>
              <p:cNvPr id="135" name="Google Shape;135;p18"/>
              <p:cNvSpPr/>
              <p:nvPr/>
            </p:nvSpPr>
            <p:spPr>
              <a:xfrm>
                <a:off x="571500" y="133350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8"/>
              <p:cNvSpPr txBox="1"/>
              <p:nvPr/>
            </p:nvSpPr>
            <p:spPr>
              <a:xfrm>
                <a:off x="571500" y="133350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1. Idea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" name="Google Shape;137;p18"/>
            <p:cNvSpPr txBox="1"/>
            <p:nvPr/>
          </p:nvSpPr>
          <p:spPr>
            <a:xfrm>
              <a:off x="1952625" y="1333500"/>
              <a:ext cx="14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2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8"/>
            <p:cNvGrpSpPr/>
            <p:nvPr/>
          </p:nvGrpSpPr>
          <p:grpSpPr>
            <a:xfrm>
              <a:off x="2162175" y="1333500"/>
              <a:ext cx="1314600" cy="381000"/>
              <a:chOff x="2162175" y="1333500"/>
              <a:chExt cx="1314600" cy="381000"/>
            </a:xfrm>
          </p:grpSpPr>
          <p:sp>
            <p:nvSpPr>
              <p:cNvPr id="139" name="Google Shape;139;p18"/>
              <p:cNvSpPr/>
              <p:nvPr/>
            </p:nvSpPr>
            <p:spPr>
              <a:xfrm>
                <a:off x="2162175" y="133350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8"/>
              <p:cNvSpPr txBox="1"/>
              <p:nvPr/>
            </p:nvSpPr>
            <p:spPr>
              <a:xfrm>
                <a:off x="2162175" y="133350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2. Manual Design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18"/>
            <p:cNvSpPr txBox="1"/>
            <p:nvPr/>
          </p:nvSpPr>
          <p:spPr>
            <a:xfrm>
              <a:off x="3543300" y="1333500"/>
              <a:ext cx="14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2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3752850" y="1333500"/>
              <a:ext cx="1314600" cy="381000"/>
              <a:chOff x="3752850" y="1333500"/>
              <a:chExt cx="1314600" cy="3810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3752850" y="133350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 txBox="1"/>
              <p:nvPr/>
            </p:nvSpPr>
            <p:spPr>
              <a:xfrm>
                <a:off x="3752850" y="133350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3. Visualization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18"/>
            <p:cNvSpPr txBox="1"/>
            <p:nvPr/>
          </p:nvSpPr>
          <p:spPr>
            <a:xfrm>
              <a:off x="5133975" y="1333500"/>
              <a:ext cx="14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2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6" name="Google Shape;146;p18"/>
            <p:cNvGrpSpPr/>
            <p:nvPr/>
          </p:nvGrpSpPr>
          <p:grpSpPr>
            <a:xfrm>
              <a:off x="5343525" y="1333500"/>
              <a:ext cx="1314600" cy="381000"/>
              <a:chOff x="5343525" y="1333500"/>
              <a:chExt cx="1314600" cy="381000"/>
            </a:xfrm>
          </p:grpSpPr>
          <p:sp>
            <p:nvSpPr>
              <p:cNvPr id="147" name="Google Shape;147;p18"/>
              <p:cNvSpPr/>
              <p:nvPr/>
            </p:nvSpPr>
            <p:spPr>
              <a:xfrm>
                <a:off x="5343525" y="133350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 txBox="1"/>
              <p:nvPr/>
            </p:nvSpPr>
            <p:spPr>
              <a:xfrm>
                <a:off x="5343525" y="133350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4. Product Search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" name="Google Shape;149;p18"/>
            <p:cNvSpPr txBox="1"/>
            <p:nvPr/>
          </p:nvSpPr>
          <p:spPr>
            <a:xfrm>
              <a:off x="6724650" y="1333500"/>
              <a:ext cx="14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2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18"/>
            <p:cNvGrpSpPr/>
            <p:nvPr/>
          </p:nvGrpSpPr>
          <p:grpSpPr>
            <a:xfrm>
              <a:off x="6934200" y="1333500"/>
              <a:ext cx="1314600" cy="381000"/>
              <a:chOff x="6934200" y="1333500"/>
              <a:chExt cx="1314600" cy="3810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6934200" y="133350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CA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 txBox="1"/>
              <p:nvPr/>
            </p:nvSpPr>
            <p:spPr>
              <a:xfrm>
                <a:off x="6934200" y="133350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5. Try-On</a:t>
                </a:r>
                <a:endPara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3" name="Google Shape;153;p18"/>
          <p:cNvGrpSpPr/>
          <p:nvPr/>
        </p:nvGrpSpPr>
        <p:grpSpPr>
          <a:xfrm>
            <a:off x="571500" y="2000250"/>
            <a:ext cx="8001000" cy="2285850"/>
            <a:chOff x="571500" y="2000250"/>
            <a:chExt cx="8001000" cy="2285850"/>
          </a:xfrm>
        </p:grpSpPr>
        <p:sp>
          <p:nvSpPr>
            <p:cNvPr id="154" name="Google Shape;154;p18"/>
            <p:cNvSpPr txBox="1"/>
            <p:nvPr/>
          </p:nvSpPr>
          <p:spPr>
            <a:xfrm>
              <a:off x="571500" y="2000250"/>
              <a:ext cx="800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Key Problems</a:t>
              </a:r>
              <a:endParaRPr b="1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" name="Google Shape;155;p18"/>
            <p:cNvGrpSpPr/>
            <p:nvPr/>
          </p:nvGrpSpPr>
          <p:grpSpPr>
            <a:xfrm>
              <a:off x="571500" y="2286000"/>
              <a:ext cx="2476500" cy="2000100"/>
              <a:chOff x="571500" y="2286000"/>
              <a:chExt cx="2476500" cy="2000100"/>
            </a:xfrm>
          </p:grpSpPr>
          <p:sp>
            <p:nvSpPr>
              <p:cNvPr id="156" name="Google Shape;156;p18"/>
              <p:cNvSpPr/>
              <p:nvPr/>
            </p:nvSpPr>
            <p:spPr>
              <a:xfrm>
                <a:off x="571500" y="2286000"/>
                <a:ext cx="2476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571500" y="2286000"/>
                <a:ext cx="24765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3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Process Inefficiency</a:t>
                </a:r>
                <a:endParaRPr b="1" sz="13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527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475569"/>
                  </a:buClr>
                  <a:buSzPts val="1050"/>
                  <a:buFont typeface="Arial"/>
                  <a:buChar char="●"/>
                </a:pPr>
                <a:r>
                  <a:rPr lang="en-GB" sz="10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Time-consuming design process</a:t>
                </a:r>
                <a:endParaRPr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527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75569"/>
                  </a:buClr>
                  <a:buSzPts val="1050"/>
                  <a:buFont typeface="Arial"/>
                  <a:buChar char="●"/>
                </a:pPr>
                <a:r>
                  <a:rPr lang="en-GB" sz="10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Difficult visualization without specialist skills</a:t>
                </a:r>
                <a:endParaRPr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18"/>
            <p:cNvGrpSpPr/>
            <p:nvPr/>
          </p:nvGrpSpPr>
          <p:grpSpPr>
            <a:xfrm>
              <a:off x="3333750" y="2286000"/>
              <a:ext cx="2476500" cy="2000100"/>
              <a:chOff x="3333750" y="2286000"/>
              <a:chExt cx="2476500" cy="2000100"/>
            </a:xfrm>
          </p:grpSpPr>
          <p:sp>
            <p:nvSpPr>
              <p:cNvPr id="159" name="Google Shape;159;p18"/>
              <p:cNvSpPr/>
              <p:nvPr/>
            </p:nvSpPr>
            <p:spPr>
              <a:xfrm>
                <a:off x="3333750" y="2286000"/>
                <a:ext cx="2476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8"/>
              <p:cNvSpPr txBox="1"/>
              <p:nvPr/>
            </p:nvSpPr>
            <p:spPr>
              <a:xfrm>
                <a:off x="3333750" y="2286000"/>
                <a:ext cx="24765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3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Fragmented Ecosystem</a:t>
                </a:r>
                <a:endParaRPr b="1" sz="13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527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475569"/>
                  </a:buClr>
                  <a:buSzPts val="1050"/>
                  <a:buFont typeface="Arial"/>
                  <a:buChar char="●"/>
                </a:pPr>
                <a:r>
                  <a:rPr lang="en-GB" sz="10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Fragmented and disconnected tools</a:t>
                </a:r>
                <a:endParaRPr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527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75569"/>
                  </a:buClr>
                  <a:buSzPts val="1050"/>
                  <a:buFont typeface="Arial"/>
                  <a:buChar char="●"/>
                </a:pPr>
                <a:r>
                  <a:rPr lang="en-GB" sz="10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Separate product discovery and try-on workflows</a:t>
                </a:r>
                <a:endParaRPr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8"/>
            <p:cNvGrpSpPr/>
            <p:nvPr/>
          </p:nvGrpSpPr>
          <p:grpSpPr>
            <a:xfrm>
              <a:off x="6096000" y="2286000"/>
              <a:ext cx="2476500" cy="2000100"/>
              <a:chOff x="6096000" y="2286000"/>
              <a:chExt cx="2476500" cy="2000100"/>
            </a:xfrm>
          </p:grpSpPr>
          <p:sp>
            <p:nvSpPr>
              <p:cNvPr id="162" name="Google Shape;162;p18"/>
              <p:cNvSpPr/>
              <p:nvPr/>
            </p:nvSpPr>
            <p:spPr>
              <a:xfrm>
                <a:off x="6096000" y="2286000"/>
                <a:ext cx="2476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2C3A41"/>
              </a:solidFill>
              <a:ln cap="flat" cmpd="sng" w="14300">
                <a:solidFill>
                  <a:srgbClr val="1CAD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8"/>
              <p:cNvSpPr txBox="1"/>
              <p:nvPr/>
            </p:nvSpPr>
            <p:spPr>
              <a:xfrm>
                <a:off x="6096000" y="2286000"/>
                <a:ext cx="24765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3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High Barriers</a:t>
                </a:r>
                <a:endParaRPr b="1" sz="13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5275" lvl="0" marL="457200" rtl="0" algn="l">
                  <a:spcBef>
                    <a:spcPts val="900"/>
                  </a:spcBef>
                  <a:spcAft>
                    <a:spcPts val="600"/>
                  </a:spcAft>
                  <a:buClr>
                    <a:srgbClr val="CBD5E1"/>
                  </a:buClr>
                  <a:buSzPts val="1050"/>
                  <a:buFont typeface="Arial"/>
                  <a:buChar char="●"/>
                </a:pPr>
                <a:r>
                  <a:rPr lang="en-GB" sz="105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Limited accessibility for non-experts</a:t>
                </a:r>
                <a:endParaRPr sz="10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438150" y="554850"/>
            <a:ext cx="8267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9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1" sz="259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19"/>
          <p:cNvGrpSpPr/>
          <p:nvPr/>
        </p:nvGrpSpPr>
        <p:grpSpPr>
          <a:xfrm>
            <a:off x="1571625" y="1047750"/>
            <a:ext cx="1905000" cy="381000"/>
            <a:chOff x="1571625" y="1047750"/>
            <a:chExt cx="1905000" cy="381000"/>
          </a:xfrm>
        </p:grpSpPr>
        <p:sp>
          <p:nvSpPr>
            <p:cNvPr id="170" name="Google Shape;170;p19"/>
            <p:cNvSpPr/>
            <p:nvPr/>
          </p:nvSpPr>
          <p:spPr>
            <a:xfrm>
              <a:off x="1571625" y="1047750"/>
              <a:ext cx="1905000" cy="381000"/>
            </a:xfrm>
            <a:prstGeom prst="roundRect">
              <a:avLst>
                <a:gd fmla="val 1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571625" y="10477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USER / BROWSER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428750"/>
            <a:ext cx="95400" cy="25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9"/>
          <p:cNvGrpSpPr/>
          <p:nvPr/>
        </p:nvGrpSpPr>
        <p:grpSpPr>
          <a:xfrm>
            <a:off x="1000125" y="1666875"/>
            <a:ext cx="3048000" cy="1047900"/>
            <a:chOff x="1000125" y="1666875"/>
            <a:chExt cx="3048000" cy="1047900"/>
          </a:xfrm>
        </p:grpSpPr>
        <p:sp>
          <p:nvSpPr>
            <p:cNvPr id="174" name="Google Shape;174;p19"/>
            <p:cNvSpPr/>
            <p:nvPr/>
          </p:nvSpPr>
          <p:spPr>
            <a:xfrm>
              <a:off x="1000125" y="1666875"/>
              <a:ext cx="3048000" cy="1047900"/>
            </a:xfrm>
            <a:prstGeom prst="roundRect">
              <a:avLst>
                <a:gd fmla="val 7272" name="adj"/>
              </a:avLst>
            </a:prstGeom>
            <a:solidFill>
              <a:srgbClr val="2C3A41"/>
            </a:solidFill>
            <a:ln cap="flat" cmpd="sng" w="1905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1000125" y="1666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VERCEL PLATFORM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• React + Vite Frontend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HTTP / API Calls (Serverless)</a:t>
              </a:r>
              <a:endPara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• Python Serverless APIs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1004888" y="2714625"/>
            <a:ext cx="3038513" cy="442800"/>
            <a:chOff x="1004888" y="2714625"/>
            <a:chExt cx="3038513" cy="442800"/>
          </a:xfrm>
        </p:grpSpPr>
        <p:pic>
          <p:nvPicPr>
            <p:cNvPr id="177" name="Google Shape;17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4888" y="2714625"/>
              <a:ext cx="1528800" cy="4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81263" y="2714625"/>
              <a:ext cx="85800" cy="4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14600" y="2714625"/>
              <a:ext cx="1528800" cy="442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19"/>
          <p:cNvGrpSpPr/>
          <p:nvPr/>
        </p:nvGrpSpPr>
        <p:grpSpPr>
          <a:xfrm>
            <a:off x="400050" y="3143250"/>
            <a:ext cx="1285800" cy="952500"/>
            <a:chOff x="400050" y="3143250"/>
            <a:chExt cx="1285800" cy="952500"/>
          </a:xfrm>
        </p:grpSpPr>
        <p:sp>
          <p:nvSpPr>
            <p:cNvPr id="181" name="Google Shape;181;p19"/>
            <p:cNvSpPr/>
            <p:nvPr/>
          </p:nvSpPr>
          <p:spPr>
            <a:xfrm>
              <a:off x="400050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400050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Cloudflare AI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FLUX / SDXL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Design Gen.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19"/>
          <p:cNvGrpSpPr/>
          <p:nvPr/>
        </p:nvGrpSpPr>
        <p:grpSpPr>
          <a:xfrm>
            <a:off x="1876425" y="3143250"/>
            <a:ext cx="1285800" cy="952500"/>
            <a:chOff x="1876425" y="3143250"/>
            <a:chExt cx="1285800" cy="952500"/>
          </a:xfrm>
        </p:grpSpPr>
        <p:sp>
          <p:nvSpPr>
            <p:cNvPr id="184" name="Google Shape;184;p19"/>
            <p:cNvSpPr/>
            <p:nvPr/>
          </p:nvSpPr>
          <p:spPr>
            <a:xfrm>
              <a:off x="1876425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1876425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RapidAPI H&amp;M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Products API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3352800" y="3143250"/>
            <a:ext cx="1285800" cy="952500"/>
            <a:chOff x="3352800" y="3143250"/>
            <a:chExt cx="1285800" cy="952500"/>
          </a:xfrm>
        </p:grpSpPr>
        <p:sp>
          <p:nvSpPr>
            <p:cNvPr id="187" name="Google Shape;187;p19"/>
            <p:cNvSpPr/>
            <p:nvPr/>
          </p:nvSpPr>
          <p:spPr>
            <a:xfrm>
              <a:off x="3352800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3352800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IDM-VTON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Virtual Try-On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4857750" y="1047750"/>
            <a:ext cx="3857700" cy="1809600"/>
            <a:chOff x="4857750" y="1047750"/>
            <a:chExt cx="3857700" cy="1809600"/>
          </a:xfrm>
        </p:grpSpPr>
        <p:sp>
          <p:nvSpPr>
            <p:cNvPr id="190" name="Google Shape;190;p19"/>
            <p:cNvSpPr/>
            <p:nvPr/>
          </p:nvSpPr>
          <p:spPr>
            <a:xfrm>
              <a:off x="4857750" y="1047750"/>
              <a:ext cx="38577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4857750" y="1047750"/>
              <a:ext cx="3857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API Routes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/api/design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Cloudflare Workers AI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/api/products/search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RapidAPI H&amp;M Store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/api/try-on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Hugging Face IDM-VTON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/api/health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Service health check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4857750" y="2952750"/>
            <a:ext cx="3857700" cy="1143000"/>
            <a:chOff x="4857750" y="2952750"/>
            <a:chExt cx="3857700" cy="1143000"/>
          </a:xfrm>
        </p:grpSpPr>
        <p:sp>
          <p:nvSpPr>
            <p:cNvPr id="193" name="Google Shape;193;p19"/>
            <p:cNvSpPr/>
            <p:nvPr/>
          </p:nvSpPr>
          <p:spPr>
            <a:xfrm>
              <a:off x="4857750" y="2952750"/>
              <a:ext cx="3857700" cy="1143000"/>
            </a:xfrm>
            <a:prstGeom prst="roundRect">
              <a:avLst>
                <a:gd fmla="val 6666" name="adj"/>
              </a:avLst>
            </a:prstGeom>
            <a:solidFill>
              <a:srgbClr val="2C3A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4857750" y="2952750"/>
              <a:ext cx="3857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Key Architecture Benefit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Single Vercel deployment handles both the React frontend and Python serverless API layer, while external AI services are securely accessed through server-side APIs.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419100" y="4238625"/>
            <a:ext cx="8305800" cy="304800"/>
            <a:chOff x="419100" y="4238625"/>
            <a:chExt cx="8305800" cy="304800"/>
          </a:xfrm>
        </p:grpSpPr>
        <p:sp>
          <p:nvSpPr>
            <p:cNvPr id="196" name="Google Shape;196;p19"/>
            <p:cNvSpPr/>
            <p:nvPr/>
          </p:nvSpPr>
          <p:spPr>
            <a:xfrm>
              <a:off x="419100" y="4238625"/>
              <a:ext cx="83058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419100" y="4238625"/>
              <a:ext cx="8305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Secrets remain server-side • Serverless • Scalable • No separate backend deployment</a:t>
              </a:r>
              <a:endParaRPr b="1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438150" y="552450"/>
            <a:ext cx="8267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59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KEY FEATURES / MODULES</a:t>
            </a:r>
            <a:endParaRPr b="1" i="0" sz="259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476250" y="1238250"/>
            <a:ext cx="8191500" cy="3238500"/>
            <a:chOff x="476250" y="1238250"/>
            <a:chExt cx="8191500" cy="3238500"/>
          </a:xfrm>
        </p:grpSpPr>
        <p:sp>
          <p:nvSpPr>
            <p:cNvPr id="204" name="Google Shape;204;p20"/>
            <p:cNvSpPr/>
            <p:nvPr/>
          </p:nvSpPr>
          <p:spPr>
            <a:xfrm>
              <a:off x="4762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4762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brush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Fashion Studio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Create fashion designs from natural-language prompts.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25717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25717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Fashion Spec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Extract structured attributes like fabric, fit, and budget.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46672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46672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Image Generation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fashion concepts using multiple AI models.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67627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67627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local_mall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Product Match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Find matching real products through the H&amp;M API.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762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762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checkroom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Virtual Try-On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interactive AI try-on results using IDM-VTON.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25717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25717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Collections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Save and manage your generated fashion designs.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46672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46672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Tech Pack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structured technical fashion specifications.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67627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2C3A41"/>
            </a:solidFill>
            <a:ln cap="flat" cmpd="sng" w="1430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67627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download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Utilities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Download designs and copy specifications instantly.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435894" y="6500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3300"/>
          </a:p>
        </p:txBody>
      </p:sp>
      <p:sp>
        <p:nvSpPr>
          <p:cNvPr id="225" name="Google Shape;225;p21"/>
          <p:cNvSpPr txBox="1"/>
          <p:nvPr/>
        </p:nvSpPr>
        <p:spPr>
          <a:xfrm>
            <a:off x="495300" y="1047750"/>
            <a:ext cx="8153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Unified AI Fashion Workflow</a:t>
            </a:r>
            <a:endParaRPr b="1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495300" y="1524000"/>
            <a:ext cx="8305800" cy="1809600"/>
            <a:chOff x="495300" y="1524000"/>
            <a:chExt cx="8305800" cy="1809600"/>
          </a:xfrm>
        </p:grpSpPr>
        <p:sp>
          <p:nvSpPr>
            <p:cNvPr id="227" name="Google Shape;227;p21"/>
            <p:cNvSpPr/>
            <p:nvPr/>
          </p:nvSpPr>
          <p:spPr>
            <a:xfrm>
              <a:off x="4953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4953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User Fashion Idea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Initial creative concept or design inspiration.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17526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19050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19050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Specification Extraction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Gemini extracts key features and attributes.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31623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147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33147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Image Generation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Generates high-fidelity fashion visuals.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45720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47244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47244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Product Match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Recommends real, matching inventory.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59817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61341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61341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Virtual Try-On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Allows users to try garments virtually.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73914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75438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2C3A41"/>
            </a:solidFill>
            <a:ln cap="flat" cmpd="sng" w="1430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75438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Tech Pack &amp; Co.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Exports final collections &amp; tech sheets.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495300" y="3619500"/>
            <a:ext cx="8305800" cy="666900"/>
            <a:chOff x="495300" y="3619500"/>
            <a:chExt cx="8305800" cy="666900"/>
          </a:xfrm>
        </p:grpSpPr>
        <p:sp>
          <p:nvSpPr>
            <p:cNvPr id="245" name="Google Shape;245;p21"/>
            <p:cNvSpPr/>
            <p:nvPr/>
          </p:nvSpPr>
          <p:spPr>
            <a:xfrm>
              <a:off x="495300" y="3619500"/>
              <a:ext cx="8305800" cy="666900"/>
            </a:xfrm>
            <a:prstGeom prst="roundRect">
              <a:avLst>
                <a:gd fmla="val 11428" name="adj"/>
              </a:avLst>
            </a:prstGeom>
            <a:solidFill>
              <a:srgbClr val="2C3A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685800" y="3619500"/>
              <a:ext cx="7924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-GB" sz="12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unified end-to-end fashion ideation and visualization platform powered by Generative AI.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435894" y="496929"/>
            <a:ext cx="8272200" cy="39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3810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System Development — Technology Used</a:t>
            </a:r>
            <a:endParaRPr b="1" i="0" sz="26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22"/>
          <p:cNvGrpSpPr/>
          <p:nvPr/>
        </p:nvGrpSpPr>
        <p:grpSpPr>
          <a:xfrm>
            <a:off x="476250" y="1238250"/>
            <a:ext cx="8191500" cy="2667000"/>
            <a:chOff x="476250" y="1238250"/>
            <a:chExt cx="8191500" cy="2667000"/>
          </a:xfrm>
        </p:grpSpPr>
        <p:sp>
          <p:nvSpPr>
            <p:cNvPr id="253" name="Google Shape;253;p22"/>
            <p:cNvSpPr/>
            <p:nvPr/>
          </p:nvSpPr>
          <p:spPr>
            <a:xfrm>
              <a:off x="4762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4762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React 19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Vite 8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Tailwind CSS 4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Lucide React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25717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25717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Backend / API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Vercel Serverless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Pydantic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HTTPX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46672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46672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Artificial Intelligence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Gemini 2.5 Flash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Cloudflare AI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IDM-VTON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67627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67627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External Services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H&amp;M Store API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Vercel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2"/>
          <p:cNvGrpSpPr/>
          <p:nvPr/>
        </p:nvGrpSpPr>
        <p:grpSpPr>
          <a:xfrm>
            <a:off x="476250" y="4143375"/>
            <a:ext cx="8191500" cy="457200"/>
            <a:chOff x="476250" y="4143375"/>
            <a:chExt cx="8191500" cy="457200"/>
          </a:xfrm>
        </p:grpSpPr>
        <p:sp>
          <p:nvSpPr>
            <p:cNvPr id="262" name="Google Shape;262;p22"/>
            <p:cNvSpPr/>
            <p:nvPr/>
          </p:nvSpPr>
          <p:spPr>
            <a:xfrm>
              <a:off x="476250" y="4143375"/>
              <a:ext cx="8191500" cy="457200"/>
            </a:xfrm>
            <a:prstGeom prst="roundRect">
              <a:avLst>
                <a:gd fmla="val 125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619125" y="4143375"/>
              <a:ext cx="790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Note:</a:t>
              </a:r>
              <a:r>
                <a:rPr lang="en-GB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Your technology choices should match the latest repository rather than the older FastAPI architecture shown in the sample.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/>
          </a:p>
        </p:txBody>
      </p:sp>
      <p:grpSp>
        <p:nvGrpSpPr>
          <p:cNvPr id="269" name="Google Shape;269;p23"/>
          <p:cNvGrpSpPr/>
          <p:nvPr/>
        </p:nvGrpSpPr>
        <p:grpSpPr>
          <a:xfrm>
            <a:off x="476250" y="1143000"/>
            <a:ext cx="8191500" cy="3429000"/>
            <a:chOff x="476250" y="1143000"/>
            <a:chExt cx="8191500" cy="3429000"/>
          </a:xfrm>
        </p:grpSpPr>
        <p:sp>
          <p:nvSpPr>
            <p:cNvPr id="270" name="Google Shape;270;p23"/>
            <p:cNvSpPr/>
            <p:nvPr/>
          </p:nvSpPr>
          <p:spPr>
            <a:xfrm>
              <a:off x="476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476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A. Recommendation Algorithm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Metadata Matching Weights: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Category Match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40%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Color Match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Budget Fit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Style / Brand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15%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Scoring Formula: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Score = Cat + Color + Budget + Style</a:t>
              </a:r>
              <a:endParaRPr b="1" sz="105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i="1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* Structured metadata matching only; does not use vector embeddings for this ranking.</a:t>
              </a:r>
              <a:endParaRPr i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4667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4667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B. Deployment &amp; Architecture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CI/CD &amp; Hosting Pipeline: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GitHub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Vercel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React + Python APIs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External APIs</a:t>
              </a:r>
              <a:endParaRPr b="1" sz="1000">
                <a:solidFill>
                  <a:srgbClr val="334155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Production API Routes: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/api/design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/api/products/search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/api/try-on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/api/health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grpSp>
        <p:nvGrpSpPr>
          <p:cNvPr id="279" name="Google Shape;279;p24"/>
          <p:cNvGrpSpPr/>
          <p:nvPr/>
        </p:nvGrpSpPr>
        <p:grpSpPr>
          <a:xfrm>
            <a:off x="476250" y="1143000"/>
            <a:ext cx="4857900" cy="3429000"/>
            <a:chOff x="476250" y="1143000"/>
            <a:chExt cx="4857900" cy="3429000"/>
          </a:xfrm>
        </p:grpSpPr>
        <p:sp>
          <p:nvSpPr>
            <p:cNvPr id="280" name="Google Shape;280;p24"/>
            <p:cNvSpPr/>
            <p:nvPr/>
          </p:nvSpPr>
          <p:spPr>
            <a:xfrm>
              <a:off x="476250" y="1143000"/>
              <a:ext cx="48579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476250" y="1143000"/>
              <a:ext cx="4857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Outcomes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AI-based fashion concept generation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Structured fashion specification extraction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Multiple AI image generation models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Real H&amp;M product recommendations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IDM-VTON virtual try-on integration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Before / After try-on experience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Collections and Tech Pack functionality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Download and copy utilities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Serverless Vercel architecture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Security and input validation</a:t>
              </a:r>
              <a:endParaRPr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24"/>
          <p:cNvGrpSpPr/>
          <p:nvPr/>
        </p:nvGrpSpPr>
        <p:grpSpPr>
          <a:xfrm>
            <a:off x="5524500" y="1143000"/>
            <a:ext cx="3143400" cy="3429000"/>
            <a:chOff x="5524500" y="1143000"/>
            <a:chExt cx="3143400" cy="3429000"/>
          </a:xfrm>
        </p:grpSpPr>
        <p:sp>
          <p:nvSpPr>
            <p:cNvPr id="283" name="Google Shape;283;p24"/>
            <p:cNvSpPr/>
            <p:nvPr/>
          </p:nvSpPr>
          <p:spPr>
            <a:xfrm>
              <a:off x="5524500" y="1143000"/>
              <a:ext cx="3143400" cy="3429000"/>
            </a:xfrm>
            <a:prstGeom prst="roundRect">
              <a:avLst>
                <a:gd fmla="val 303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 txBox="1"/>
            <p:nvPr/>
          </p:nvSpPr>
          <p:spPr>
            <a:xfrm>
              <a:off x="5524500" y="11430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700" lIns="266700" spcFirstLastPara="1" rIns="266700" wrap="square" tIns="26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endParaRPr sz="4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Key Result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Successfully integrated multiple AI and external services into a unified fashion design workflow.</a:t>
              </a:r>
              <a:endParaRPr b="1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grpSp>
        <p:nvGrpSpPr>
          <p:cNvPr id="290" name="Google Shape;290;p25"/>
          <p:cNvGrpSpPr/>
          <p:nvPr/>
        </p:nvGrpSpPr>
        <p:grpSpPr>
          <a:xfrm>
            <a:off x="476250" y="1143000"/>
            <a:ext cx="4000500" cy="3429000"/>
            <a:chOff x="476250" y="1143000"/>
            <a:chExt cx="4000500" cy="3429000"/>
          </a:xfrm>
        </p:grpSpPr>
        <p:sp>
          <p:nvSpPr>
            <p:cNvPr id="291" name="Google Shape;291;p25"/>
            <p:cNvSpPr/>
            <p:nvPr/>
          </p:nvSpPr>
          <p:spPr>
            <a:xfrm>
              <a:off x="476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5"/>
            <p:cNvSpPr txBox="1"/>
            <p:nvPr/>
          </p:nvSpPr>
          <p:spPr>
            <a:xfrm>
              <a:off x="476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Unified Platform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</a:t>
              </a:r>
              <a:r>
                <a:rPr b="1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AI Fashion Design Generator</a:t>
              </a: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demonstrates how Generative AI, product APIs and computer-vision-based virtual try-on can be combined into a unified fashion platform.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IMPACT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project reduces fragmentation in the fashion ideation workflow by bringing design generation, product discovery and virtual try-on into one application.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25"/>
          <p:cNvGrpSpPr/>
          <p:nvPr/>
        </p:nvGrpSpPr>
        <p:grpSpPr>
          <a:xfrm>
            <a:off x="4667250" y="1143000"/>
            <a:ext cx="4000500" cy="3429000"/>
            <a:chOff x="4667250" y="1143000"/>
            <a:chExt cx="4000500" cy="3429000"/>
          </a:xfrm>
        </p:grpSpPr>
        <p:sp>
          <p:nvSpPr>
            <p:cNvPr id="294" name="Google Shape;294;p25"/>
            <p:cNvSpPr/>
            <p:nvPr/>
          </p:nvSpPr>
          <p:spPr>
            <a:xfrm>
              <a:off x="4667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4667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Connected Workflow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system seamlessly connects each stage of fashion creation: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01</a:t>
              </a: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 IDEATION</a:t>
              </a:r>
              <a:endParaRPr b="1" sz="12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02</a:t>
              </a: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 GENERATION</a:t>
              </a:r>
              <a:endParaRPr b="1" sz="12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03</a:t>
              </a: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 RECOMMENDATION</a:t>
              </a:r>
              <a:endParaRPr b="1" sz="12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04</a:t>
              </a: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 TRY-ON</a:t>
              </a:r>
              <a:endParaRPr b="1" sz="12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/>
        </p:nvSpPr>
        <p:spPr>
          <a:xfrm>
            <a:off x="435894" y="526617"/>
            <a:ext cx="8272200" cy="39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63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b="1" i="0" sz="2063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26"/>
          <p:cNvGrpSpPr/>
          <p:nvPr/>
        </p:nvGrpSpPr>
        <p:grpSpPr>
          <a:xfrm>
            <a:off x="476250" y="1238250"/>
            <a:ext cx="8220000" cy="3448200"/>
            <a:chOff x="476250" y="1238250"/>
            <a:chExt cx="8220000" cy="3448200"/>
          </a:xfrm>
        </p:grpSpPr>
        <p:sp>
          <p:nvSpPr>
            <p:cNvPr id="302" name="Google Shape;302;p26"/>
            <p:cNvSpPr/>
            <p:nvPr/>
          </p:nvSpPr>
          <p:spPr>
            <a:xfrm>
              <a:off x="4762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&amp; Virtual Try-On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Improved garment extraction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Better garment preprocessing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Higher-quality virtual try-on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More advanced fashion generation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32956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32956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More fashion marketplaces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Personalized recommendations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Advanced product similarity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61150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61150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Platform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User authentication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Cloud-based collections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Analytics dashboard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Mobile application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476250" y="4286250"/>
              <a:ext cx="8220000" cy="400200"/>
            </a:xfrm>
            <a:prstGeom prst="roundRect">
              <a:avLst>
                <a:gd fmla="val 1428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 txBox="1"/>
            <p:nvPr/>
          </p:nvSpPr>
          <p:spPr>
            <a:xfrm>
              <a:off x="476250" y="4286250"/>
              <a:ext cx="822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Please Note: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These items represent future roadmap scope and are not currently completed features.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15670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8" y="333375"/>
            <a:ext cx="84819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8" y="333375"/>
            <a:ext cx="27669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95638" y="333375"/>
            <a:ext cx="2766900" cy="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435893" y="526618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RESULTS &amp; SCREENSHOTS</a:t>
            </a:r>
            <a:endParaRPr b="1" sz="21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27"/>
          <p:cNvGrpSpPr/>
          <p:nvPr/>
        </p:nvGrpSpPr>
        <p:grpSpPr>
          <a:xfrm>
            <a:off x="476250" y="4333875"/>
            <a:ext cx="8191500" cy="400200"/>
            <a:chOff x="476250" y="4333875"/>
            <a:chExt cx="8191500" cy="400200"/>
          </a:xfrm>
        </p:grpSpPr>
        <p:sp>
          <p:nvSpPr>
            <p:cNvPr id="320" name="Google Shape;320;p27"/>
            <p:cNvSpPr/>
            <p:nvPr/>
          </p:nvSpPr>
          <p:spPr>
            <a:xfrm>
              <a:off x="476250" y="4333875"/>
              <a:ext cx="8191500" cy="400200"/>
            </a:xfrm>
            <a:prstGeom prst="roundRect">
              <a:avLst>
                <a:gd fmla="val 1428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 txBox="1"/>
            <p:nvPr/>
          </p:nvSpPr>
          <p:spPr>
            <a:xfrm>
              <a:off x="476250" y="4333875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System Performance: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Real-time processing and pipeline execution successfully validated.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27"/>
          <p:cNvGrpSpPr/>
          <p:nvPr/>
        </p:nvGrpSpPr>
        <p:grpSpPr>
          <a:xfrm>
            <a:off x="7605992" y="4506225"/>
            <a:ext cx="1102133" cy="417027"/>
            <a:chOff x="-4762" y="9525"/>
            <a:chExt cx="666788" cy="252300"/>
          </a:xfrm>
        </p:grpSpPr>
        <p:pic>
          <p:nvPicPr>
            <p:cNvPr id="323" name="Google Shape;323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5" y="57150"/>
              <a:ext cx="438300" cy="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" y="52388"/>
              <a:ext cx="385800" cy="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25" y="52388"/>
              <a:ext cx="573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4762" y="9525"/>
              <a:ext cx="247800" cy="252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7" name="Google Shape;327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2575" y="924425"/>
            <a:ext cx="8653126" cy="411554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grpSp>
        <p:nvGrpSpPr>
          <p:cNvPr id="338" name="Google Shape;338;p29"/>
          <p:cNvGrpSpPr/>
          <p:nvPr/>
        </p:nvGrpSpPr>
        <p:grpSpPr>
          <a:xfrm>
            <a:off x="476250" y="1190625"/>
            <a:ext cx="8220000" cy="3571875"/>
            <a:chOff x="476250" y="1190625"/>
            <a:chExt cx="8220000" cy="3571875"/>
          </a:xfrm>
        </p:grpSpPr>
        <p:sp>
          <p:nvSpPr>
            <p:cNvPr id="339" name="Google Shape;339;p29"/>
            <p:cNvSpPr/>
            <p:nvPr/>
          </p:nvSpPr>
          <p:spPr>
            <a:xfrm>
              <a:off x="476250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9"/>
            <p:cNvSpPr txBox="1"/>
            <p:nvPr/>
          </p:nvSpPr>
          <p:spPr>
            <a:xfrm>
              <a:off x="476250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6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&amp; Code</a:t>
              </a:r>
              <a:endParaRPr b="1" sz="13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4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AI Fashion Design Generator</a:t>
              </a:r>
              <a:endParaRPr b="1" sz="12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GB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IBM Internship 2026</a:t>
              </a:r>
              <a:endParaRPr i="1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GitHub Repository: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6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AI-Fashion-Design-Generator-IBM-INTERSHIP-2026</a:t>
              </a:r>
              <a:endParaRPr sz="116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4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Third-Party Model</a:t>
              </a:r>
              <a:endParaRPr b="1" sz="12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IDM-VTON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License: CC BY-NC-SA 4.0</a:t>
              </a:r>
              <a:endParaRPr i="1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3290888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9"/>
            <p:cNvSpPr txBox="1"/>
            <p:nvPr/>
          </p:nvSpPr>
          <p:spPr>
            <a:xfrm>
              <a:off x="3290888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Technologies &amp; APIs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Google Gemini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Cloudflare Workers AI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RapidAPI H&amp;M Store API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Hugging Face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IDM-VTON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6105525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9"/>
            <p:cNvSpPr txBox="1"/>
            <p:nvPr/>
          </p:nvSpPr>
          <p:spPr>
            <a:xfrm>
              <a:off x="6105525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Documentation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React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Vite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Tailwind CSS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FastAPI &amp; Python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 Platform Docs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476250" y="4381500"/>
              <a:ext cx="8220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 txBox="1"/>
            <p:nvPr/>
          </p:nvSpPr>
          <p:spPr>
            <a:xfrm>
              <a:off x="476250" y="4381500"/>
              <a:ext cx="82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References &amp; Standards: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Keep this project structure clean, modular, and fully documented.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0"/>
          <p:cNvGrpSpPr/>
          <p:nvPr/>
        </p:nvGrpSpPr>
        <p:grpSpPr>
          <a:xfrm>
            <a:off x="435894" y="526617"/>
            <a:ext cx="8272200" cy="397800"/>
            <a:chOff x="435894" y="526617"/>
            <a:chExt cx="8272200" cy="397800"/>
          </a:xfrm>
        </p:grpSpPr>
        <p:sp>
          <p:nvSpPr>
            <p:cNvPr id="352" name="Google Shape;352;p30"/>
            <p:cNvSpPr/>
            <p:nvPr/>
          </p:nvSpPr>
          <p:spPr>
            <a:xfrm>
              <a:off x="435894" y="526617"/>
              <a:ext cx="8272200" cy="39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 txBox="1"/>
            <p:nvPr/>
          </p:nvSpPr>
          <p:spPr>
            <a:xfrm>
              <a:off x="435894" y="526617"/>
              <a:ext cx="82722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3325" lIns="68575" spcFirstLastPara="1" rIns="68575" wrap="square" tIns="3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DEPLOYMENT &amp; REPOSITORY</a:t>
              </a:r>
              <a:endParaRPr b="1" sz="2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30"/>
          <p:cNvSpPr/>
          <p:nvPr/>
        </p:nvSpPr>
        <p:spPr>
          <a:xfrm>
            <a:off x="476250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30"/>
          <p:cNvGrpSpPr/>
          <p:nvPr/>
        </p:nvGrpSpPr>
        <p:grpSpPr>
          <a:xfrm>
            <a:off x="476250" y="1238250"/>
            <a:ext cx="2581200" cy="2857500"/>
            <a:chOff x="476250" y="1238250"/>
            <a:chExt cx="2581200" cy="2857500"/>
          </a:xfrm>
        </p:grpSpPr>
        <p:sp>
          <p:nvSpPr>
            <p:cNvPr id="356" name="Google Shape;356;p30"/>
            <p:cNvSpPr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0"/>
            <p:cNvSpPr txBox="1"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🔗 Live Demo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Deployment Platform: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Vercel Platform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Verified URL: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11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https://ai-fashion-design-generator-ibm-int.vercel.app/</a:t>
              </a:r>
              <a:endParaRPr b="1" sz="1150" u="sng">
                <a:solidFill>
                  <a:srgbClr val="6EAC1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358" name="Google Shape;358;p30"/>
          <p:cNvSpPr/>
          <p:nvPr/>
        </p:nvSpPr>
        <p:spPr>
          <a:xfrm>
            <a:off x="3290888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30"/>
          <p:cNvGrpSpPr/>
          <p:nvPr/>
        </p:nvGrpSpPr>
        <p:grpSpPr>
          <a:xfrm>
            <a:off x="3290888" y="1238250"/>
            <a:ext cx="2581200" cy="2857500"/>
            <a:chOff x="3290888" y="1238250"/>
            <a:chExt cx="2581200" cy="2857500"/>
          </a:xfrm>
        </p:grpSpPr>
        <p:sp>
          <p:nvSpPr>
            <p:cNvPr id="360" name="Google Shape;360;p30"/>
            <p:cNvSpPr/>
            <p:nvPr/>
          </p:nvSpPr>
          <p:spPr>
            <a:xfrm>
              <a:off x="3290888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3290888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5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💻 GitHub Repository</a:t>
              </a:r>
              <a:endParaRPr b="1" sz="125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58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Source Code &amp; Documentation:</a:t>
              </a:r>
              <a:endParaRPr b="0" sz="1158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GB" sz="1158" u="sng">
                  <a:solidFill>
                    <a:srgbClr val="6EAC1C"/>
                  </a:solidFill>
                  <a:latin typeface="Roboto Mono"/>
                  <a:ea typeface="Roboto Mono"/>
                  <a:cs typeface="Roboto Mono"/>
                  <a:sym typeface="Roboto Mono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github.com/Piyu242005/AI-Fashion-Design-Generator-IBM-INTERSHIP-2026</a:t>
              </a:r>
              <a:endParaRPr b="1" sz="1158" u="sng">
                <a:solidFill>
                  <a:srgbClr val="6EAC1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362" name="Google Shape;362;p30"/>
          <p:cNvSpPr/>
          <p:nvPr/>
        </p:nvSpPr>
        <p:spPr>
          <a:xfrm>
            <a:off x="6105525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30"/>
          <p:cNvGrpSpPr/>
          <p:nvPr/>
        </p:nvGrpSpPr>
        <p:grpSpPr>
          <a:xfrm>
            <a:off x="6105525" y="1238250"/>
            <a:ext cx="2581200" cy="2857500"/>
            <a:chOff x="6105525" y="1238250"/>
            <a:chExt cx="2581200" cy="2857500"/>
          </a:xfrm>
        </p:grpSpPr>
        <p:sp>
          <p:nvSpPr>
            <p:cNvPr id="364" name="Google Shape;364;p30"/>
            <p:cNvSpPr/>
            <p:nvPr/>
          </p:nvSpPr>
          <p:spPr>
            <a:xfrm>
              <a:off x="6105525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 txBox="1"/>
            <p:nvPr/>
          </p:nvSpPr>
          <p:spPr>
            <a:xfrm>
              <a:off x="6105525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📚 Technologies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React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Vite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Python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30"/>
          <p:cNvGrpSpPr/>
          <p:nvPr/>
        </p:nvGrpSpPr>
        <p:grpSpPr>
          <a:xfrm>
            <a:off x="476250" y="4286250"/>
            <a:ext cx="8220000" cy="400200"/>
            <a:chOff x="476250" y="4286250"/>
            <a:chExt cx="8220000" cy="400200"/>
          </a:xfrm>
        </p:grpSpPr>
        <p:sp>
          <p:nvSpPr>
            <p:cNvPr id="367" name="Google Shape;367;p30"/>
            <p:cNvSpPr/>
            <p:nvPr/>
          </p:nvSpPr>
          <p:spPr>
            <a:xfrm>
              <a:off x="476250" y="4286250"/>
              <a:ext cx="8220000" cy="400200"/>
            </a:xfrm>
            <a:prstGeom prst="roundRect">
              <a:avLst>
                <a:gd fmla="val 1428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 txBox="1"/>
            <p:nvPr/>
          </p:nvSpPr>
          <p:spPr>
            <a:xfrm>
              <a:off x="476250" y="4286250"/>
              <a:ext cx="822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References &amp; Standards: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Keep this project structure clean, modular, and fully documented.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571500" y="952500"/>
            <a:ext cx="8001000" cy="3048150"/>
            <a:chOff x="571500" y="952500"/>
            <a:chExt cx="8001000" cy="3048150"/>
          </a:xfrm>
        </p:grpSpPr>
        <p:grpSp>
          <p:nvGrpSpPr>
            <p:cNvPr id="374" name="Google Shape;374;p31"/>
            <p:cNvGrpSpPr/>
            <p:nvPr/>
          </p:nvGrpSpPr>
          <p:grpSpPr>
            <a:xfrm>
              <a:off x="571500" y="952500"/>
              <a:ext cx="4000500" cy="3048150"/>
              <a:chOff x="571500" y="952500"/>
              <a:chExt cx="4000500" cy="3048150"/>
            </a:xfrm>
          </p:grpSpPr>
          <p:sp>
            <p:nvSpPr>
              <p:cNvPr id="375" name="Google Shape;375;p31"/>
              <p:cNvSpPr txBox="1"/>
              <p:nvPr/>
            </p:nvSpPr>
            <p:spPr>
              <a:xfrm>
                <a:off x="571500" y="952500"/>
                <a:ext cx="4000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38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THANK YOU</a:t>
                </a:r>
                <a:endParaRPr b="1" sz="38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1" lang="en-GB" sz="13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"From idea to design to try-on — powered by AI."</a:t>
                </a:r>
                <a:endParaRPr b="0" i="1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1"/>
              <p:cNvSpPr/>
              <p:nvPr/>
            </p:nvSpPr>
            <p:spPr>
              <a:xfrm>
                <a:off x="571500" y="2571750"/>
                <a:ext cx="4000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1"/>
              <p:cNvSpPr txBox="1"/>
              <p:nvPr/>
            </p:nvSpPr>
            <p:spPr>
              <a:xfrm>
                <a:off x="571500" y="2571750"/>
                <a:ext cx="4000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28600" lIns="228600" spcFirstLastPara="1" rIns="228600" wrap="square" tIns="2286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Piyush Ramteke</a:t>
                </a:r>
                <a:endParaRPr b="1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IBM Internship 2026</a:t>
                </a:r>
                <a:endParaRPr b="0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GB" sz="13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AI Fashion Design Generator</a:t>
                </a:r>
                <a:endParaRPr b="1" sz="13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" name="Google Shape;378;p31"/>
            <p:cNvGrpSpPr/>
            <p:nvPr/>
          </p:nvGrpSpPr>
          <p:grpSpPr>
            <a:xfrm>
              <a:off x="4953000" y="952500"/>
              <a:ext cx="3619500" cy="3048000"/>
              <a:chOff x="4953000" y="952500"/>
              <a:chExt cx="3619500" cy="3048000"/>
            </a:xfrm>
          </p:grpSpPr>
          <p:pic>
            <p:nvPicPr>
              <p:cNvPr descr="A minimalist, high-end fashion design studio with digital screens displaying colorful 3D clothing renders and AI-generated garments, clean bright lighting, professional portfolio style." id="379" name="Google Shape;379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5468" r="5468" t="0"/>
              <a:stretch/>
            </p:blipFill>
            <p:spPr>
              <a:xfrm>
                <a:off x="4953000" y="952500"/>
                <a:ext cx="3619500" cy="3048000"/>
              </a:xfrm>
              <a:prstGeom prst="roundRect">
                <a:avLst>
                  <a:gd fmla="val 5000" name="adj"/>
                </a:avLst>
              </a:prstGeom>
              <a:noFill/>
              <a:ln>
                <a:noFill/>
              </a:ln>
            </p:spPr>
          </p:pic>
          <p:sp>
            <p:nvSpPr>
              <p:cNvPr id="380" name="Google Shape;380;p31"/>
              <p:cNvSpPr/>
              <p:nvPr/>
            </p:nvSpPr>
            <p:spPr>
              <a:xfrm>
                <a:off x="4953000" y="952500"/>
                <a:ext cx="3619500" cy="3048000"/>
              </a:xfrm>
              <a:prstGeom prst="roundRect">
                <a:avLst>
                  <a:gd fmla="val 5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